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jqF4kp+ytCJ2ezXEl3e7PLGqVT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D7990F-C0F9-4EB0-9FD0-6997CF298960}">
  <a:tblStyle styleId="{92D7990F-C0F9-4EB0-9FD0-6997CF29896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h4cf320f8c930a449_1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h4cf320f8c930a449_1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h4cf320f8c930a449_1_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h4cf320f8c930a449_1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h4cf320f8c930a449_1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h4cf320f8c930a449_1_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h4cf320f8c930a449_1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h4cf320f8c930a449_1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h4cf320f8c930a449_1_1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h4cf320f8c930a449_1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h4cf320f8c930a449_1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h4cf320f8c930a449_1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h4cf320f8c930a449_1_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h4cf320f8c930a449_1_2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h4cf320f8c930a449_1_2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h4cf320f8c930a449_1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h4cf320f8c930a449_1_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h4cf320f8c930a449_1_1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h4cf320f8c930a449_1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h4cf320f8c930a449_1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h4cf320f8c930a449_1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h4cf320f8c930a449_1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h4cf320f8c930a449_1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h4cf320f8c930a449_1_2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PORTADA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">
  <p:cSld name="CONTENIDO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Mil y Una Ideas  ·  Presentación de avances  ·  Capstone 002D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5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5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b="1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35"/>
          <p:cNvSpPr txBox="1"/>
          <p:nvPr>
            <p:ph idx="12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CION">
  <p:cSld name="SECCION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/>
          <p:cNvSpPr txBox="1"/>
          <p:nvPr>
            <p:ph idx="1" type="body"/>
          </p:nvPr>
        </p:nvSpPr>
        <p:spPr>
          <a:xfrm>
            <a:off x="548640" y="23317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36"/>
          <p:cNvSpPr txBox="1"/>
          <p:nvPr>
            <p:ph type="title"/>
          </p:nvPr>
        </p:nvSpPr>
        <p:spPr>
          <a:xfrm>
            <a:off x="548640" y="2743200"/>
            <a:ext cx="6400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SCURO">
  <p:cSld name="OSCURO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B8CC"/>
                </a:solidFill>
                <a:latin typeface="Calibri"/>
                <a:ea typeface="Calibri"/>
                <a:cs typeface="Calibri"/>
                <a:sym typeface="Calibri"/>
              </a:rPr>
              <a:t>Mil y Una Ideas  ·  Presentación de avances  ·  Capstone 002D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7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7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b="1" i="0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" name="Google Shape;24;p37"/>
          <p:cNvSpPr txBox="1"/>
          <p:nvPr>
            <p:ph idx="12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8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8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8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8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8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8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8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8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8B8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3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37.jpg"/><Relationship Id="rId6" Type="http://schemas.openxmlformats.org/officeDocument/2006/relationships/image" Target="../media/image15.jpg"/><Relationship Id="rId7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7.png"/><Relationship Id="rId5" Type="http://schemas.openxmlformats.org/officeDocument/2006/relationships/image" Target="../media/image28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53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Relationship Id="rId7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7.png"/><Relationship Id="rId6" Type="http://schemas.openxmlformats.org/officeDocument/2006/relationships/image" Target="../media/image33.png"/><Relationship Id="rId7" Type="http://schemas.openxmlformats.org/officeDocument/2006/relationships/image" Target="../media/image35.png"/><Relationship Id="rId8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Relationship Id="rId5" Type="http://schemas.openxmlformats.org/officeDocument/2006/relationships/image" Target="../media/image6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Relationship Id="rId4" Type="http://schemas.openxmlformats.org/officeDocument/2006/relationships/image" Target="../media/image39.png"/><Relationship Id="rId5" Type="http://schemas.openxmlformats.org/officeDocument/2006/relationships/image" Target="../media/image57.png"/><Relationship Id="rId6" Type="http://schemas.openxmlformats.org/officeDocument/2006/relationships/image" Target="../media/image4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milyunaideas.vercel.app" TargetMode="External"/><Relationship Id="rId4" Type="http://schemas.openxmlformats.org/officeDocument/2006/relationships/image" Target="../media/image51.png"/><Relationship Id="rId5" Type="http://schemas.openxmlformats.org/officeDocument/2006/relationships/hyperlink" Target="http://milyunaideas.vercel.app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7.png"/><Relationship Id="rId4" Type="http://schemas.openxmlformats.org/officeDocument/2006/relationships/image" Target="../media/image45.png"/><Relationship Id="rId5" Type="http://schemas.openxmlformats.org/officeDocument/2006/relationships/image" Target="../media/image60.jpg"/><Relationship Id="rId6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1.png"/><Relationship Id="rId4" Type="http://schemas.openxmlformats.org/officeDocument/2006/relationships/image" Target="../media/image55.png"/><Relationship Id="rId5" Type="http://schemas.openxmlformats.org/officeDocument/2006/relationships/image" Target="../media/image5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0.jp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áquina de coser en el taller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57908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548640" y="457200"/>
            <a:ext cx="1143000" cy="1143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 Mil y Una Ideas" id="33" name="Google Shape;3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548640"/>
            <a:ext cx="96012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"/>
          <p:cNvSpPr txBox="1"/>
          <p:nvPr/>
        </p:nvSpPr>
        <p:spPr>
          <a:xfrm>
            <a:off x="548640" y="18288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PRESENTACIÓN DE AVANCES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548640" y="219456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Mil y Una Ideas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548640" y="315468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6E4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D7D6E4"/>
                </a:solidFill>
                <a:latin typeface="Calibri"/>
                <a:ea typeface="Calibri"/>
                <a:cs typeface="Calibri"/>
                <a:sym typeface="Calibri"/>
              </a:rPr>
              <a:t>Plataforma web de gestión para un taller textil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548640" y="4069080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DOCENTE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548640" y="4325112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Mauricio Figueroa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548640" y="4754880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ASIGNATURA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548640" y="5010912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002D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548640" y="5440680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548640" y="5696712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Smolenks Aravena  ·  Matías González  ·  Jean Leyton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AGENDA</a:t>
            </a:r>
            <a:endParaRPr sz="1200"/>
          </a:p>
        </p:txBody>
      </p:sp>
      <p:sp>
        <p:nvSpPr>
          <p:cNvPr id="49" name="Google Shape;49;p2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Tabla de contenidos</a:t>
            </a:r>
            <a:endParaRPr sz="3400"/>
          </a:p>
        </p:txBody>
      </p:sp>
      <p:sp>
        <p:nvSpPr>
          <p:cNvPr id="50" name="Google Shape;50;p2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1115568" y="1600200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" y="2240280"/>
            <a:ext cx="420624" cy="4206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 txBox="1"/>
          <p:nvPr/>
        </p:nvSpPr>
        <p:spPr>
          <a:xfrm>
            <a:off x="548640" y="22402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1115568" y="2240280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 txBox="1"/>
          <p:nvPr/>
        </p:nvSpPr>
        <p:spPr>
          <a:xfrm>
            <a:off x="548640" y="28803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1115568" y="2880360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Necesidad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548640" y="35204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115568" y="3520440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48640" y="4160520"/>
            <a:ext cx="420624" cy="4206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548640" y="41605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1115568" y="4160520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RFs, RNFs, épicas e historias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48640" y="4800600"/>
            <a:ext cx="420624" cy="4206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548640" y="4800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115568" y="4800600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48640" y="5440680"/>
            <a:ext cx="420624" cy="4206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 txBox="1"/>
          <p:nvPr/>
        </p:nvSpPr>
        <p:spPr>
          <a:xfrm>
            <a:off x="548640" y="54406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1115568" y="5440680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343400" y="1600200"/>
            <a:ext cx="420624" cy="4206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 txBox="1"/>
          <p:nvPr/>
        </p:nvSpPr>
        <p:spPr>
          <a:xfrm>
            <a:off x="434340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4910328" y="1600200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343400" y="2240280"/>
            <a:ext cx="420624" cy="4206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 txBox="1"/>
          <p:nvPr/>
        </p:nvSpPr>
        <p:spPr>
          <a:xfrm>
            <a:off x="4343400" y="22402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4910328" y="2240280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343400" y="2880360"/>
            <a:ext cx="420624" cy="4206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4343400" y="28803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4910328" y="2880360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Evidencias por sprint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343400" y="3520440"/>
            <a:ext cx="420624" cy="4206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 txBox="1"/>
          <p:nvPr/>
        </p:nvSpPr>
        <p:spPr>
          <a:xfrm>
            <a:off x="4343400" y="35204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4910328" y="3520440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4343400" y="4160520"/>
            <a:ext cx="420624" cy="4206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4343400" y="41605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4910328" y="4160520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incremento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4343400" y="4800600"/>
            <a:ext cx="420624" cy="4206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 txBox="1"/>
          <p:nvPr/>
        </p:nvSpPr>
        <p:spPr>
          <a:xfrm>
            <a:off x="4343400" y="4800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4910328" y="4800600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Conclusiones y próximos pasos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4343400" y="5440680"/>
            <a:ext cx="420624" cy="4206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4343400" y="54406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4910328" y="5440680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Reflexión final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8366760" y="1508760"/>
            <a:ext cx="3291840" cy="4572000"/>
          </a:xfrm>
          <a:prstGeom prst="roundRect">
            <a:avLst>
              <a:gd fmla="val 694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erramientas de costura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6760" y="1508760"/>
            <a:ext cx="329184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01 · CONTEXTO</a:t>
            </a:r>
            <a:endParaRPr sz="1200"/>
          </a:p>
        </p:txBody>
      </p:sp>
      <p:sp>
        <p:nvSpPr>
          <p:cNvPr id="101" name="Google Shape;101;p3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 y Una Ideas SpA</a:t>
            </a:r>
            <a:endParaRPr sz="3400"/>
          </a:p>
        </p:txBody>
      </p:sp>
      <p:sp>
        <p:nvSpPr>
          <p:cNvPr id="102" name="Google Shape;102;p3"/>
          <p:cNvSpPr/>
          <p:nvPr/>
        </p:nvSpPr>
        <p:spPr>
          <a:xfrm>
            <a:off x="548640" y="1600200"/>
            <a:ext cx="5120640" cy="4434840"/>
          </a:xfrm>
          <a:prstGeom prst="roundRect">
            <a:avLst>
              <a:gd fmla="val 24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"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87452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/>
        </p:nvSpPr>
        <p:spPr>
          <a:xfrm>
            <a:off x="2286000" y="20116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Taller de costura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2286000" y="24231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Valparaíso, Chile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868680" y="3337560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Confección de prendas a medida: ropa deportiva, uniformes escolares, ropa de trabajo, bolsos, mochilas, gorros, entre otros.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868680" y="4892040"/>
            <a:ext cx="685800" cy="685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wner icon" id="108" name="Google Shape;10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130" y="506349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737360" y="491947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Dueña y Product Owner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1737360" y="5193792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Carolina Palma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aller 1" id="111" name="Google Shape;11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200" y="1600200"/>
            <a:ext cx="2651760" cy="4434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ller 2" id="112" name="Google Shape;11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6840" y="1600200"/>
            <a:ext cx="2651760" cy="21214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ller 3" id="113" name="Google Shape;11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6840" y="3913632"/>
            <a:ext cx="2651760" cy="212140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02 · PROBLEMAS</a:t>
            </a:r>
            <a:endParaRPr sz="1200"/>
          </a:p>
        </p:txBody>
      </p:sp>
      <p:sp>
        <p:nvSpPr>
          <p:cNvPr id="121" name="Google Shape;121;p4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Hoy el taller opera sin trazabilidad</a:t>
            </a:r>
            <a:endParaRPr sz="3400"/>
          </a:p>
        </p:txBody>
      </p:sp>
      <p:sp>
        <p:nvSpPr>
          <p:cNvPr id="122" name="Google Shape;122;p4"/>
          <p:cNvSpPr/>
          <p:nvPr/>
        </p:nvSpPr>
        <p:spPr>
          <a:xfrm>
            <a:off x="548640" y="1600200"/>
            <a:ext cx="4754880" cy="4434840"/>
          </a:xfrm>
          <a:prstGeom prst="roundRect">
            <a:avLst>
              <a:gd fmla="val 24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lustración taller"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897063"/>
            <a:ext cx="4206240" cy="384111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5760720" y="169164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stión 100% manual" id="125" name="Google Shape;1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18745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 txBox="1"/>
          <p:nvPr/>
        </p:nvSpPr>
        <p:spPr>
          <a:xfrm>
            <a:off x="6720840" y="167335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100% manual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6720840" y="2075688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Registro en papel o comunicación verbal: se pierde la trazabilidad y el historial con los clientes.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760720" y="315468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lta de visibilidad en producción" id="129" name="Google Shape;12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0" y="3337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6720840" y="313639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Falta de visibilidad en producción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6720840" y="3538728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 difícil conocer el estado real de los pedidos.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760720" y="461772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escontrol de responsabilidades" id="133" name="Google Shape;13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3600" y="4800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 txBox="1"/>
          <p:nvPr/>
        </p:nvSpPr>
        <p:spPr>
          <a:xfrm>
            <a:off x="6720840" y="459943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Descontrol de responsabilidades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6720840" y="5001768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Cuesta asignar, monitorear y evaluar el trabajo individual de cortadoras y operarias.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stura a mano"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20624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/>
          <p:nvPr/>
        </p:nvSpPr>
        <p:spPr>
          <a:xfrm>
            <a:off x="4754880" y="3200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03 · NECESIDAD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4754880" y="566928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que el taller necesita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754880" y="1645920"/>
            <a:ext cx="6903720" cy="1234440"/>
          </a:xfrm>
          <a:prstGeom prst="roundRect">
            <a:avLst>
              <a:gd fmla="val 888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4983480" y="1901952"/>
            <a:ext cx="731520" cy="731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entralización de información" id="147" name="Google Shape;1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20848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/>
        </p:nvSpPr>
        <p:spPr>
          <a:xfrm>
            <a:off x="5943600" y="182880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Centralización de información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5943600" y="2194560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Registrar clientes, pedidos y especificaciones técnicas en una sola base de datos accesible.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754880" y="3108960"/>
            <a:ext cx="6903720" cy="1234440"/>
          </a:xfrm>
          <a:prstGeom prst="roundRect">
            <a:avLst>
              <a:gd fmla="val 888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4983480" y="3364992"/>
            <a:ext cx="731520" cy="731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razabilidad en tiempo real" id="152" name="Google Shape;15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6360" y="3547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5943600" y="329184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Trazabilidad en tiempo real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5943600" y="3657600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Visualizar el flujo de trabajo para detectar cuellos de botella y cumplir plazos de entrega.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754880" y="4572000"/>
            <a:ext cx="6903720" cy="1234440"/>
          </a:xfrm>
          <a:prstGeom prst="roundRect">
            <a:avLst>
              <a:gd fmla="val 888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983480" y="4828032"/>
            <a:ext cx="731520" cy="731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ntrol operativo" id="157" name="Google Shape;15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66360" y="50109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/>
          <p:nvPr/>
        </p:nvSpPr>
        <p:spPr>
          <a:xfrm>
            <a:off x="5943600" y="475488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operativo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5943600" y="5120640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Asignación digital de tareas por rol para transparentar responsabilidades y medir tiempos de producción.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04 · SOLUCIÓN</a:t>
            </a:r>
            <a:endParaRPr sz="1200"/>
          </a:p>
        </p:txBody>
      </p:sp>
      <p:sp>
        <p:nvSpPr>
          <p:cNvPr id="167" name="Google Shape;167;p6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Plataforma web de gestión textil</a:t>
            </a:r>
            <a:endParaRPr sz="3400"/>
          </a:p>
        </p:txBody>
      </p:sp>
      <p:sp>
        <p:nvSpPr>
          <p:cNvPr id="168" name="Google Shape;168;p6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Un sistema integral para digitalizar la operación interna del taller.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48640" y="2103120"/>
            <a:ext cx="3520440" cy="3931920"/>
          </a:xfrm>
          <a:prstGeom prst="roundRect">
            <a:avLst>
              <a:gd fmla="val 3117" name="adj"/>
            </a:avLst>
          </a:prstGeom>
          <a:solidFill>
            <a:schemeClr val="lt1"/>
          </a:solidFill>
          <a:ln cap="flat" cmpd="sng" w="12700">
            <a:solidFill>
              <a:srgbClr val="E3E1E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914400" y="2514600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ódulo de pedidos" id="171" name="Google Shape;1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743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 txBox="1"/>
          <p:nvPr/>
        </p:nvSpPr>
        <p:spPr>
          <a:xfrm>
            <a:off x="2971800" y="25146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D7E3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D9D7E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914400" y="3657600"/>
            <a:ext cx="2788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de pedidos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914400" y="4572000"/>
            <a:ext cx="27889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Captura estructurada de órdenes con fichas técnicas dinámicas: tallas, cortes y personalizaciones.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325112" y="2103120"/>
            <a:ext cx="3520440" cy="3931920"/>
          </a:xfrm>
          <a:prstGeom prst="roundRect">
            <a:avLst>
              <a:gd fmla="val 3117" name="adj"/>
            </a:avLst>
          </a:prstGeom>
          <a:solidFill>
            <a:schemeClr val="lt1"/>
          </a:solidFill>
          <a:ln cap="flat" cmpd="sng" w="12700">
            <a:solidFill>
              <a:srgbClr val="E3E1E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690872" y="2514600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anel de control y roles" id="177" name="Google Shape;17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9472" y="2743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 txBox="1"/>
          <p:nvPr/>
        </p:nvSpPr>
        <p:spPr>
          <a:xfrm>
            <a:off x="6748272" y="25146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D7E3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D9D7E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4690872" y="3657600"/>
            <a:ext cx="2788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Panel de control y roles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4690872" y="4572000"/>
            <a:ext cx="27889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Interfaces a medida para Jefa de Taller, Cortadoras y Operarias, con actualización de estados en un clic.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8101584" y="2103120"/>
            <a:ext cx="3520440" cy="3931920"/>
          </a:xfrm>
          <a:prstGeom prst="roundRect">
            <a:avLst>
              <a:gd fmla="val 3117" name="adj"/>
            </a:avLst>
          </a:prstGeom>
          <a:solidFill>
            <a:schemeClr val="lt1"/>
          </a:solidFill>
          <a:ln cap="flat" cmpd="sng" w="12700">
            <a:solidFill>
              <a:srgbClr val="E3E1E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8467344" y="2514600"/>
            <a:ext cx="914400" cy="91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razabilidad inteligente" id="183" name="Google Shape;18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95944" y="2743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 txBox="1"/>
          <p:nvPr/>
        </p:nvSpPr>
        <p:spPr>
          <a:xfrm>
            <a:off x="10524744" y="25146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D7E3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D9D7E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8467344" y="3657600"/>
            <a:ext cx="2788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Trazabilidad inteligente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8467344" y="4572000"/>
            <a:ext cx="27889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Dashboard visual con métricas de avance y asistencia con IA para reportes del taller.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05 · REQUERIMIENTOS</a:t>
            </a:r>
            <a:endParaRPr sz="1200"/>
          </a:p>
        </p:txBody>
      </p:sp>
      <p:sp>
        <p:nvSpPr>
          <p:cNvPr id="194" name="Google Shape;194;p7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Requerimientos funcionales</a:t>
            </a:r>
            <a:endParaRPr sz="3400"/>
          </a:p>
        </p:txBody>
      </p:sp>
      <p:sp>
        <p:nvSpPr>
          <p:cNvPr id="195" name="Google Shape;195;p7"/>
          <p:cNvSpPr/>
          <p:nvPr/>
        </p:nvSpPr>
        <p:spPr>
          <a:xfrm>
            <a:off x="1775520" y="1600200"/>
            <a:ext cx="7680900" cy="1280100"/>
          </a:xfrm>
          <a:prstGeom prst="roundRect">
            <a:avLst>
              <a:gd fmla="val 8571" name="adj"/>
            </a:avLst>
          </a:prstGeom>
          <a:solidFill>
            <a:schemeClr val="lt2"/>
          </a:solidFill>
          <a:ln>
            <a:noFill/>
          </a:ln>
          <a:effectLst>
            <a:outerShdw blurRad="128588" rotWithShape="0" algn="bl" dir="5400000" dist="285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3162360" y="1801368"/>
            <a:ext cx="6217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clientes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3162360" y="2194560"/>
            <a:ext cx="6217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Registrar, consultar y actualizar la información de los clientes frecuentes del taller.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2065080" y="1874520"/>
            <a:ext cx="731400" cy="731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stión de clientes" id="199" name="Google Shape;1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7960" y="20574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/>
          <p:nvPr/>
        </p:nvSpPr>
        <p:spPr>
          <a:xfrm>
            <a:off x="1775520" y="3108960"/>
            <a:ext cx="7680900" cy="1280100"/>
          </a:xfrm>
          <a:prstGeom prst="roundRect">
            <a:avLst>
              <a:gd fmla="val 8571" name="adj"/>
            </a:avLst>
          </a:prstGeom>
          <a:solidFill>
            <a:schemeClr val="lt2"/>
          </a:solidFill>
          <a:ln>
            <a:noFill/>
          </a:ln>
          <a:effectLst>
            <a:outerShdw blurRad="128588" rotWithShape="0" algn="bl" dir="5400000" dist="285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3162360" y="3310128"/>
            <a:ext cx="6217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de trabajo realizado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3162360" y="3703320"/>
            <a:ext cx="6217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Registrar los trabajos realizados a cada cliente, con la información relevante del servicio efectuado.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2065080" y="3383280"/>
            <a:ext cx="731400" cy="731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gistro de trabajo realizado" id="204" name="Google Shape;2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7960" y="3566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/>
          <p:nvPr/>
        </p:nvSpPr>
        <p:spPr>
          <a:xfrm>
            <a:off x="1775520" y="4617720"/>
            <a:ext cx="7680900" cy="1280100"/>
          </a:xfrm>
          <a:prstGeom prst="roundRect">
            <a:avLst>
              <a:gd fmla="val 8571" name="adj"/>
            </a:avLst>
          </a:prstGeom>
          <a:solidFill>
            <a:schemeClr val="lt2"/>
          </a:solidFill>
          <a:ln>
            <a:noFill/>
          </a:ln>
          <a:effectLst>
            <a:outerShdw blurRad="128588" rotWithShape="0" algn="bl" dir="5400000" dist="285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3162360" y="4818888"/>
            <a:ext cx="6217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Visibilidad de redes sociales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3162360" y="5212080"/>
            <a:ext cx="6217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Los clientes acceden fácilmente a las redes sociales del taller mediante enlaces visibles en el sistema.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2065080" y="4892040"/>
            <a:ext cx="731400" cy="731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Visibilidad de redes sociales" id="209" name="Google Shape;20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47960" y="5074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05.1 · REQUERIMIENTOS</a:t>
            </a:r>
            <a:endParaRPr sz="1200"/>
          </a:p>
        </p:txBody>
      </p:sp>
      <p:sp>
        <p:nvSpPr>
          <p:cNvPr id="217" name="Google Shape;217;p8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Requerimientos no funcionales</a:t>
            </a:r>
            <a:endParaRPr sz="3400"/>
          </a:p>
        </p:txBody>
      </p:sp>
      <p:sp>
        <p:nvSpPr>
          <p:cNvPr id="218" name="Google Shape;218;p8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fmla="val 3117" name="adj"/>
            </a:avLst>
          </a:prstGeom>
          <a:solidFill>
            <a:schemeClr val="lt2"/>
          </a:solidFill>
          <a:ln>
            <a:noFill/>
          </a:ln>
          <a:effectLst>
            <a:outerShdw blurRad="128588" rotWithShape="0" algn="bl" dir="5400000" dist="285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1714500" y="2103120"/>
            <a:ext cx="1188720" cy="11887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guridad" id="220" name="Google Shape;2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0" y="24003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 txBox="1"/>
          <p:nvPr/>
        </p:nvSpPr>
        <p:spPr>
          <a:xfrm>
            <a:off x="822960" y="384048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914400" y="4343400"/>
            <a:ext cx="2788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Protección de credenciales mediante almacenamiento seguro de contraseñas y autenticación.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325112" y="1691640"/>
            <a:ext cx="3520440" cy="4206240"/>
          </a:xfrm>
          <a:prstGeom prst="roundRect">
            <a:avLst>
              <a:gd fmla="val 3117" name="adj"/>
            </a:avLst>
          </a:prstGeom>
          <a:solidFill>
            <a:schemeClr val="lt2"/>
          </a:solidFill>
          <a:ln>
            <a:noFill/>
          </a:ln>
          <a:effectLst>
            <a:outerShdw blurRad="128588" rotWithShape="0" algn="bl" dir="5400000" dist="285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5490972" y="2103120"/>
            <a:ext cx="1188720" cy="11887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ntrol de acceso" id="225" name="Google Shape;22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8152" y="24003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 txBox="1"/>
          <p:nvPr/>
        </p:nvSpPr>
        <p:spPr>
          <a:xfrm>
            <a:off x="4599432" y="384048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acceso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4690872" y="4343400"/>
            <a:ext cx="2788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Acceso restringido a las funciones según el rol de cada usuario.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8101584" y="1691640"/>
            <a:ext cx="3520440" cy="4206240"/>
          </a:xfrm>
          <a:prstGeom prst="roundRect">
            <a:avLst>
              <a:gd fmla="val 3117" name="adj"/>
            </a:avLst>
          </a:prstGeom>
          <a:solidFill>
            <a:schemeClr val="lt2"/>
          </a:solidFill>
          <a:ln>
            <a:noFill/>
          </a:ln>
          <a:effectLst>
            <a:outerShdw blurRad="128588" rotWithShape="0" algn="bl" dir="5400000" dist="285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9267444" y="2103120"/>
            <a:ext cx="1188720" cy="11887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razabilidad" id="230" name="Google Shape;23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64624" y="24003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8"/>
          <p:cNvSpPr txBox="1"/>
          <p:nvPr/>
        </p:nvSpPr>
        <p:spPr>
          <a:xfrm>
            <a:off x="8375904" y="384048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Trazabilidad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8467344" y="4343400"/>
            <a:ext cx="2788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Cada trabajo registrado conserva quién lo registró y cuándo fue realizado.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05.2 · REQUERIMIENTOS</a:t>
            </a:r>
            <a:endParaRPr sz="1200"/>
          </a:p>
        </p:txBody>
      </p:sp>
      <p:sp>
        <p:nvSpPr>
          <p:cNvPr id="240" name="Google Shape;240;p9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Épicas</a:t>
            </a:r>
            <a:endParaRPr sz="3400"/>
          </a:p>
        </p:txBody>
      </p:sp>
      <p:sp>
        <p:nvSpPr>
          <p:cNvPr id="241" name="Google Shape;241;p9"/>
          <p:cNvSpPr/>
          <p:nvPr/>
        </p:nvSpPr>
        <p:spPr>
          <a:xfrm>
            <a:off x="548640" y="1554480"/>
            <a:ext cx="5394960" cy="2148840"/>
          </a:xfrm>
          <a:prstGeom prst="roundRect">
            <a:avLst>
              <a:gd fmla="val 5106" name="adj"/>
            </a:avLst>
          </a:prstGeom>
          <a:solidFill>
            <a:schemeClr val="lt1"/>
          </a:solidFill>
          <a:ln cap="flat" cmpd="sng" w="12700">
            <a:solidFill>
              <a:srgbClr val="E3E1E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868680" y="1874520"/>
            <a:ext cx="777240" cy="7772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stión de pedidos" id="243" name="Google Shape;2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990" y="206883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"/>
          <p:cNvSpPr txBox="1"/>
          <p:nvPr/>
        </p:nvSpPr>
        <p:spPr>
          <a:xfrm>
            <a:off x="1874520" y="1874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ÉPICA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1874520" y="2148840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pedidos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1874520" y="288036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Registrar y administrar los pedidos del taller, manteniendo un respaldo de la información asociada a cada uno.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6217920" y="1554480"/>
            <a:ext cx="5394960" cy="2148840"/>
          </a:xfrm>
          <a:prstGeom prst="roundRect">
            <a:avLst>
              <a:gd fmla="val 5106" name="adj"/>
            </a:avLst>
          </a:prstGeom>
          <a:solidFill>
            <a:schemeClr val="lt1"/>
          </a:solidFill>
          <a:ln cap="flat" cmpd="sng" w="12700">
            <a:solidFill>
              <a:srgbClr val="E3E1E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6537960" y="1874520"/>
            <a:ext cx="777240" cy="7772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stión de tareas y trabajadores" id="249" name="Google Shape;24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2270" y="206883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9"/>
          <p:cNvSpPr txBox="1"/>
          <p:nvPr/>
        </p:nvSpPr>
        <p:spPr>
          <a:xfrm>
            <a:off x="7543800" y="1874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ÉPICA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 txBox="1"/>
          <p:nvPr/>
        </p:nvSpPr>
        <p:spPr>
          <a:xfrm>
            <a:off x="7543800" y="2148840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tareas y trabajadores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7543800" y="288036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Que la jefa del taller organice y asigne tareas a los trabajadores para un mejor control de las actividades.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548640" y="3886200"/>
            <a:ext cx="5394960" cy="2148840"/>
          </a:xfrm>
          <a:prstGeom prst="roundRect">
            <a:avLst>
              <a:gd fmla="val 5106" name="adj"/>
            </a:avLst>
          </a:prstGeom>
          <a:solidFill>
            <a:schemeClr val="lt1"/>
          </a:solidFill>
          <a:ln cap="flat" cmpd="sng" w="12700">
            <a:solidFill>
              <a:srgbClr val="E3E1E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868680" y="4206240"/>
            <a:ext cx="777240" cy="7772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guimiento de trabajos realizados" id="255" name="Google Shape;25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2990" y="44005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9"/>
          <p:cNvSpPr txBox="1"/>
          <p:nvPr/>
        </p:nvSpPr>
        <p:spPr>
          <a:xfrm>
            <a:off x="1874520" y="4206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ÉPICA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1874520" y="4480560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Seguimiento de trabajos realizados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1874520" y="521208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Supervisar las tareas realizadas por los trabajadores, conocer su estado y controlar las labores efectuadas.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217920" y="3886200"/>
            <a:ext cx="5394960" cy="2148840"/>
          </a:xfrm>
          <a:prstGeom prst="roundRect">
            <a:avLst>
              <a:gd fmla="val 5106" name="adj"/>
            </a:avLst>
          </a:prstGeom>
          <a:solidFill>
            <a:schemeClr val="lt1"/>
          </a:solidFill>
          <a:ln cap="flat" cmpd="sng" w="12700">
            <a:solidFill>
              <a:srgbClr val="E3E1E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6537960" y="4206240"/>
            <a:ext cx="777240" cy="7772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nformación del taller" id="261" name="Google Shape;26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2270" y="44005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 txBox="1"/>
          <p:nvPr/>
        </p:nvSpPr>
        <p:spPr>
          <a:xfrm>
            <a:off x="7543800" y="4206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ÉPICA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7543800" y="4480560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Información del taller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7543800" y="521208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Que los clientes accedan fácilmente a información del taller, como redes sociales y medios de contacto.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05.3 · HISTORIAS DE USUARIO</a:t>
            </a:r>
            <a:endParaRPr sz="1200"/>
          </a:p>
        </p:txBody>
      </p:sp>
      <p:sp>
        <p:nvSpPr>
          <p:cNvPr id="272" name="Google Shape;272;p10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Organización de tareas del taller</a:t>
            </a:r>
            <a:endParaRPr sz="3400"/>
          </a:p>
        </p:txBody>
      </p:sp>
      <p:sp>
        <p:nvSpPr>
          <p:cNvPr id="273" name="Google Shape;273;p10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Como 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Jefa de taller</a:t>
            </a: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quiero…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48640" y="1965960"/>
            <a:ext cx="5394960" cy="1828800"/>
          </a:xfrm>
          <a:prstGeom prst="roundRect">
            <a:avLst>
              <a:gd fmla="val 6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 txBox="1"/>
          <p:nvPr/>
        </p:nvSpPr>
        <p:spPr>
          <a:xfrm>
            <a:off x="868680" y="2405620"/>
            <a:ext cx="4755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Integrar recordatorios de Google Calendar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868680" y="2990088"/>
            <a:ext cx="475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para gestionar los plazos de entrega.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fmla="val 6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 txBox="1"/>
          <p:nvPr/>
        </p:nvSpPr>
        <p:spPr>
          <a:xfrm>
            <a:off x="6537960" y="2331708"/>
            <a:ext cx="4755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Cambiar el estado de las tareas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6537960" y="2990088"/>
            <a:ext cx="475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(pendiente, en proceso, finalizada) para llevar un control visual del avance.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548640" y="4023360"/>
            <a:ext cx="5394960" cy="1828800"/>
          </a:xfrm>
          <a:prstGeom prst="roundRect">
            <a:avLst>
              <a:gd fmla="val 6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 txBox="1"/>
          <p:nvPr/>
        </p:nvSpPr>
        <p:spPr>
          <a:xfrm>
            <a:off x="868680" y="4462245"/>
            <a:ext cx="4755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Adjuntar notas o instrucciones a cada tarea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868680" y="5047488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para evitar errores en la ejecución del trabajo.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6217920" y="4023360"/>
            <a:ext cx="5394960" cy="1828800"/>
          </a:xfrm>
          <a:prstGeom prst="roundRect">
            <a:avLst>
              <a:gd fmla="val 6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 txBox="1"/>
          <p:nvPr/>
        </p:nvSpPr>
        <p:spPr>
          <a:xfrm>
            <a:off x="6537960" y="4480558"/>
            <a:ext cx="4755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el estado de entrega de los pedidos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 txBox="1"/>
          <p:nvPr/>
        </p:nvSpPr>
        <p:spPr>
          <a:xfrm>
            <a:off x="6537960" y="5047488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para diferenciar si una prenda está finalizada o ya fue entregada al cliente.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05.3 · HISTORIAS DE USUARIO</a:t>
            </a:r>
            <a:endParaRPr sz="1200"/>
          </a:p>
        </p:txBody>
      </p:sp>
      <p:sp>
        <p:nvSpPr>
          <p:cNvPr id="293" name="Google Shape;293;p11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Toma de pedidos</a:t>
            </a:r>
            <a:endParaRPr sz="3400"/>
          </a:p>
        </p:txBody>
      </p:sp>
      <p:sp>
        <p:nvSpPr>
          <p:cNvPr id="294" name="Google Shape;294;p11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Como 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Jefa de taller</a:t>
            </a: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quiero…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1361275" y="1920250"/>
            <a:ext cx="10297200" cy="731400"/>
          </a:xfrm>
          <a:prstGeom prst="roundRect">
            <a:avLst>
              <a:gd fmla="val 1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1600200" y="2048256"/>
            <a:ext cx="475488" cy="475488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gistrar los pedidos de los clientes" id="297" name="Google Shape;2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9072" y="21671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1"/>
          <p:cNvSpPr txBox="1"/>
          <p:nvPr/>
        </p:nvSpPr>
        <p:spPr>
          <a:xfrm>
            <a:off x="2286000" y="19202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los pedidos de los clientes</a:t>
            </a: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para mantener un control organizado de los trabajos solicitados.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1343049" y="2761500"/>
            <a:ext cx="10297200" cy="731400"/>
          </a:xfrm>
          <a:prstGeom prst="roundRect">
            <a:avLst>
              <a:gd fmla="val 1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1600200" y="2889504"/>
            <a:ext cx="475488" cy="475488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nsultar los pedidos registrados y sus detalles" id="301" name="Google Shape;30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9072" y="30083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1"/>
          <p:cNvSpPr txBox="1"/>
          <p:nvPr/>
        </p:nvSpPr>
        <p:spPr>
          <a:xfrm>
            <a:off x="2286000" y="2761488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Consultar los pedidos registrados y sus detalles</a:t>
            </a: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para acceder fácilmente a la información de cada trabajo cuando la necesite.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1343101" y="3602725"/>
            <a:ext cx="10297200" cy="731400"/>
          </a:xfrm>
          <a:prstGeom prst="roundRect">
            <a:avLst>
              <a:gd fmla="val 1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1600200" y="3730752"/>
            <a:ext cx="475488" cy="475488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ntener un registro de los pedidos realizados" id="305" name="Google Shape;30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9072" y="38496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1"/>
          <p:cNvSpPr txBox="1"/>
          <p:nvPr/>
        </p:nvSpPr>
        <p:spPr>
          <a:xfrm>
            <a:off x="2286000" y="3602736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Mantener un registro de los pedidos realizados</a:t>
            </a: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como respaldo de los detalles acordados con cada cliente, evitando la pérdida de información.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1361276" y="4443975"/>
            <a:ext cx="10278900" cy="731400"/>
          </a:xfrm>
          <a:prstGeom prst="roundRect">
            <a:avLst>
              <a:gd fmla="val 1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1600200" y="4572000"/>
            <a:ext cx="475488" cy="475488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ctualizar el estado de los pedidos" id="309" name="Google Shape;30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9072" y="469087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1"/>
          <p:cNvSpPr txBox="1"/>
          <p:nvPr/>
        </p:nvSpPr>
        <p:spPr>
          <a:xfrm>
            <a:off x="2286000" y="4443984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Actualizar el estado de los pedidos</a:t>
            </a: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para saber qué trabajos están pendientes, en proceso o terminados.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1343101" y="5285225"/>
            <a:ext cx="10297200" cy="731400"/>
          </a:xfrm>
          <a:prstGeom prst="roundRect">
            <a:avLst>
              <a:gd fmla="val 1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1600200" y="5413248"/>
            <a:ext cx="475500" cy="475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gistrar tipos de prenda" id="313" name="Google Shape;313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19072" y="55321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/>
        </p:nvSpPr>
        <p:spPr>
          <a:xfrm>
            <a:off x="2286000" y="5285232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tipos de prenda</a:t>
            </a: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para mantener los catálogos organizados.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06 · ARQUITECTURA</a:t>
            </a:r>
            <a:endParaRPr sz="1200"/>
          </a:p>
        </p:txBody>
      </p:sp>
      <p:sp>
        <p:nvSpPr>
          <p:cNvPr id="322" name="Google Shape;322;p12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Arquitectura del sistema</a:t>
            </a:r>
            <a:endParaRPr sz="3400"/>
          </a:p>
        </p:txBody>
      </p:sp>
      <p:sp>
        <p:nvSpPr>
          <p:cNvPr id="323" name="Google Shape;323;p12"/>
          <p:cNvSpPr/>
          <p:nvPr/>
        </p:nvSpPr>
        <p:spPr>
          <a:xfrm>
            <a:off x="548640" y="1600200"/>
            <a:ext cx="2926080" cy="4434840"/>
          </a:xfrm>
          <a:prstGeom prst="roundRect">
            <a:avLst>
              <a:gd fmla="val 31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 txBox="1"/>
          <p:nvPr/>
        </p:nvSpPr>
        <p:spPr>
          <a:xfrm>
            <a:off x="822960" y="17830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VERCEL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822960" y="2148840"/>
            <a:ext cx="685800" cy="685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act" id="326" name="Google Shape;3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410" y="232029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2"/>
          <p:cNvSpPr txBox="1"/>
          <p:nvPr/>
        </p:nvSpPr>
        <p:spPr>
          <a:xfrm>
            <a:off x="1645920" y="21488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 txBox="1"/>
          <p:nvPr/>
        </p:nvSpPr>
        <p:spPr>
          <a:xfrm>
            <a:off x="1645920" y="25146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 txBox="1"/>
          <p:nvPr/>
        </p:nvSpPr>
        <p:spPr>
          <a:xfrm>
            <a:off x="822960" y="3108960"/>
            <a:ext cx="24688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Landing Page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cliente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pedidos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servicios extras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prendas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Trabajadores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12"/>
          <p:cNvCxnSpPr/>
          <p:nvPr/>
        </p:nvCxnSpPr>
        <p:spPr>
          <a:xfrm>
            <a:off x="3520440" y="3794760"/>
            <a:ext cx="640080" cy="914"/>
          </a:xfrm>
          <a:prstGeom prst="straightConnector1">
            <a:avLst/>
          </a:prstGeom>
          <a:noFill/>
          <a:ln cap="flat" cmpd="sng" w="22225">
            <a:solidFill>
              <a:srgbClr val="55596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" name="Google Shape;331;p12"/>
          <p:cNvSpPr txBox="1"/>
          <p:nvPr/>
        </p:nvSpPr>
        <p:spPr>
          <a:xfrm>
            <a:off x="3456432" y="32461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PostgREST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4206240" y="1600200"/>
            <a:ext cx="4480560" cy="4434840"/>
          </a:xfrm>
          <a:prstGeom prst="roundRect">
            <a:avLst>
              <a:gd fmla="val 2062" name="adj"/>
            </a:avLst>
          </a:prstGeom>
          <a:solidFill>
            <a:srgbClr val="FFFFFF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 txBox="1"/>
          <p:nvPr/>
        </p:nvSpPr>
        <p:spPr>
          <a:xfrm>
            <a:off x="4434840" y="175564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SUPABASE · BACKEND AS A SERVICE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4434840" y="2148840"/>
            <a:ext cx="4023360" cy="868680"/>
          </a:xfrm>
          <a:prstGeom prst="roundRect">
            <a:avLst>
              <a:gd fmla="val 1052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4617720" y="2286000"/>
            <a:ext cx="594360" cy="5943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uth" id="336" name="Google Shape;33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6310" y="243459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2"/>
          <p:cNvSpPr txBox="1"/>
          <p:nvPr/>
        </p:nvSpPr>
        <p:spPr>
          <a:xfrm>
            <a:off x="5394960" y="22585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 txBox="1"/>
          <p:nvPr/>
        </p:nvSpPr>
        <p:spPr>
          <a:xfrm>
            <a:off x="5394960" y="257860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i="0" lang="en-US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Login + roles y permisos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12"/>
          <p:cNvCxnSpPr/>
          <p:nvPr/>
        </p:nvCxnSpPr>
        <p:spPr>
          <a:xfrm>
            <a:off x="6446520" y="3017520"/>
            <a:ext cx="914" cy="228600"/>
          </a:xfrm>
          <a:prstGeom prst="straightConnector1">
            <a:avLst/>
          </a:prstGeom>
          <a:noFill/>
          <a:ln cap="flat" cmpd="sng" w="22225">
            <a:solidFill>
              <a:srgbClr val="55596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0" name="Google Shape;340;p12"/>
          <p:cNvSpPr/>
          <p:nvPr/>
        </p:nvSpPr>
        <p:spPr>
          <a:xfrm>
            <a:off x="4434840" y="3246120"/>
            <a:ext cx="4023360" cy="1508760"/>
          </a:xfrm>
          <a:prstGeom prst="roundRect">
            <a:avLst>
              <a:gd fmla="val 60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4617720" y="3383280"/>
            <a:ext cx="594360" cy="594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ase de datos" id="342" name="Google Shape;34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6310" y="353187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2"/>
          <p:cNvSpPr txBox="1"/>
          <p:nvPr/>
        </p:nvSpPr>
        <p:spPr>
          <a:xfrm>
            <a:off x="5394960" y="340156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de datos · PostgreSQL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 txBox="1"/>
          <p:nvPr/>
        </p:nvSpPr>
        <p:spPr>
          <a:xfrm>
            <a:off x="5394960" y="3749040"/>
            <a:ext cx="2926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Usuario  ·  Pedidos  ·  Detalle pedido  ·  Responsable  ·  Cliente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12"/>
          <p:cNvCxnSpPr/>
          <p:nvPr/>
        </p:nvCxnSpPr>
        <p:spPr>
          <a:xfrm>
            <a:off x="6446520" y="4754880"/>
            <a:ext cx="914" cy="228600"/>
          </a:xfrm>
          <a:prstGeom prst="straightConnector1">
            <a:avLst/>
          </a:prstGeom>
          <a:noFill/>
          <a:ln cap="flat" cmpd="sng" w="22225">
            <a:solidFill>
              <a:srgbClr val="55596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6" name="Google Shape;346;p12"/>
          <p:cNvSpPr/>
          <p:nvPr/>
        </p:nvSpPr>
        <p:spPr>
          <a:xfrm>
            <a:off x="4434840" y="4983480"/>
            <a:ext cx="4023360" cy="868680"/>
          </a:xfrm>
          <a:prstGeom prst="roundRect">
            <a:avLst>
              <a:gd fmla="val 1052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4617720" y="5120640"/>
            <a:ext cx="594360" cy="594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dge Functions" id="348" name="Google Shape;34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6310" y="526923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2"/>
          <p:cNvSpPr txBox="1"/>
          <p:nvPr/>
        </p:nvSpPr>
        <p:spPr>
          <a:xfrm>
            <a:off x="5394960" y="50749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Functions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5394960" y="53949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Sincronización de calendario · Asistente IA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9281160" y="1600200"/>
            <a:ext cx="2377440" cy="2057400"/>
          </a:xfrm>
          <a:prstGeom prst="roundRect">
            <a:avLst>
              <a:gd fmla="val 4444" name="adj"/>
            </a:avLst>
          </a:prstGeom>
          <a:solidFill>
            <a:srgbClr val="FFF4E0"/>
          </a:solidFill>
          <a:ln cap="flat" cmpd="sng" w="15875">
            <a:solidFill>
              <a:srgbClr val="F3A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9509760" y="1783080"/>
            <a:ext cx="594360" cy="594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oogle Calendar" id="353" name="Google Shape;353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58350" y="193167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2"/>
          <p:cNvSpPr txBox="1"/>
          <p:nvPr/>
        </p:nvSpPr>
        <p:spPr>
          <a:xfrm>
            <a:off x="9509760" y="248716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Calendar API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 txBox="1"/>
          <p:nvPr/>
        </p:nvSpPr>
        <p:spPr>
          <a:xfrm>
            <a:off x="9509760" y="2852928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Sincronización de fechas de entrega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9281160" y="3977640"/>
            <a:ext cx="2377440" cy="2057400"/>
          </a:xfrm>
          <a:prstGeom prst="roundRect">
            <a:avLst>
              <a:gd fmla="val 4444" name="adj"/>
            </a:avLst>
          </a:prstGeom>
          <a:solidFill>
            <a:srgbClr val="FFF4E0"/>
          </a:solidFill>
          <a:ln cap="flat" cmpd="sng" w="15875">
            <a:solidFill>
              <a:srgbClr val="F3A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9509760" y="4160520"/>
            <a:ext cx="594360" cy="594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mini" id="358" name="Google Shape;358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58350" y="430911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2"/>
          <p:cNvSpPr txBox="1"/>
          <p:nvPr/>
        </p:nvSpPr>
        <p:spPr>
          <a:xfrm>
            <a:off x="9509760" y="486460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Gemini API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 txBox="1"/>
          <p:nvPr/>
        </p:nvSpPr>
        <p:spPr>
          <a:xfrm>
            <a:off x="9509760" y="5230368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Modelo de lenguaje externo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12"/>
          <p:cNvCxnSpPr/>
          <p:nvPr/>
        </p:nvCxnSpPr>
        <p:spPr>
          <a:xfrm flipH="1" rot="10800000">
            <a:off x="8458200" y="2651760"/>
            <a:ext cx="822960" cy="2651760"/>
          </a:xfrm>
          <a:prstGeom prst="straightConnector1">
            <a:avLst/>
          </a:prstGeom>
          <a:noFill/>
          <a:ln cap="flat" cmpd="sng" w="22225">
            <a:solidFill>
              <a:srgbClr val="55596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2" name="Google Shape;362;p12"/>
          <p:cNvCxnSpPr/>
          <p:nvPr/>
        </p:nvCxnSpPr>
        <p:spPr>
          <a:xfrm flipH="1" rot="10800000">
            <a:off x="8458200" y="4983480"/>
            <a:ext cx="822960" cy="457200"/>
          </a:xfrm>
          <a:prstGeom prst="straightConnector1">
            <a:avLst/>
          </a:prstGeom>
          <a:noFill/>
          <a:ln cap="flat" cmpd="sng" w="22225">
            <a:solidFill>
              <a:srgbClr val="55596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3" name="Google Shape;363;p12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07 · MODELO DE DATOS</a:t>
            </a:r>
            <a:endParaRPr sz="1200"/>
          </a:p>
        </p:txBody>
      </p:sp>
      <p:sp>
        <p:nvSpPr>
          <p:cNvPr id="370" name="Google Shape;370;p13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  <a:endParaRPr sz="3400"/>
          </a:p>
        </p:txBody>
      </p:sp>
      <p:sp>
        <p:nvSpPr>
          <p:cNvPr id="371" name="Google Shape;371;p13"/>
          <p:cNvSpPr/>
          <p:nvPr/>
        </p:nvSpPr>
        <p:spPr>
          <a:xfrm>
            <a:off x="548650" y="1141375"/>
            <a:ext cx="11091600" cy="5255700"/>
          </a:xfrm>
          <a:prstGeom prst="roundRect">
            <a:avLst>
              <a:gd fmla="val 2353" name="adj"/>
            </a:avLst>
          </a:prstGeom>
          <a:solidFill>
            <a:schemeClr val="lt1"/>
          </a:solidFill>
          <a:ln cap="flat" cmpd="sng" w="12700">
            <a:solidFill>
              <a:srgbClr val="E3E1E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13"/>
          <p:cNvPicPr preferRelativeResize="0"/>
          <p:nvPr/>
        </p:nvPicPr>
        <p:blipFill rotWithShape="1">
          <a:blip r:embed="rId3">
            <a:alphaModFix/>
          </a:blip>
          <a:srcRect b="0" l="0" r="0" t="1098"/>
          <a:stretch/>
        </p:blipFill>
        <p:spPr>
          <a:xfrm>
            <a:off x="1253925" y="1219409"/>
            <a:ext cx="9684150" cy="509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08 · METODOLOGÍA</a:t>
            </a:r>
            <a:endParaRPr sz="1200"/>
          </a:p>
        </p:txBody>
      </p:sp>
      <p:sp>
        <p:nvSpPr>
          <p:cNvPr id="380" name="Google Shape;380;p14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 + Kanban</a:t>
            </a:r>
            <a:endParaRPr sz="3400"/>
          </a:p>
        </p:txBody>
      </p:sp>
      <p:sp>
        <p:nvSpPr>
          <p:cNvPr id="381" name="Google Shape;381;p14"/>
          <p:cNvSpPr/>
          <p:nvPr/>
        </p:nvSpPr>
        <p:spPr>
          <a:xfrm>
            <a:off x="548640" y="1600200"/>
            <a:ext cx="3474720" cy="2834640"/>
          </a:xfrm>
          <a:prstGeom prst="roundRect">
            <a:avLst>
              <a:gd fmla="val 387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rum" id="383" name="Google Shape;3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" y="20802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4"/>
          <p:cNvSpPr txBox="1"/>
          <p:nvPr/>
        </p:nvSpPr>
        <p:spPr>
          <a:xfrm>
            <a:off x="868680" y="28346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868680" y="3291840"/>
            <a:ext cx="2834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Metodología ágil principal: divide el trabajo grande en partes pequeñas, desarrolladas en ciclos cortos (sprints).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4251960" y="1600200"/>
            <a:ext cx="3474720" cy="2834640"/>
          </a:xfrm>
          <a:prstGeom prst="roundRect">
            <a:avLst>
              <a:gd fmla="val 387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4572000" y="1874520"/>
            <a:ext cx="822960" cy="8229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Kanban" id="388" name="Google Shape;3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7740" y="20802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4"/>
          <p:cNvSpPr txBox="1"/>
          <p:nvPr/>
        </p:nvSpPr>
        <p:spPr>
          <a:xfrm>
            <a:off x="4572000" y="28346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Kanban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 txBox="1"/>
          <p:nvPr/>
        </p:nvSpPr>
        <p:spPr>
          <a:xfrm>
            <a:off x="4572000" y="3291840"/>
            <a:ext cx="2834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Gestión del estado y visualización de las tareas del proyecto en un tablero compartido.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548640" y="4663440"/>
            <a:ext cx="7178040" cy="1417320"/>
          </a:xfrm>
          <a:prstGeom prst="roundRect">
            <a:avLst>
              <a:gd fmla="val 7742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 txBox="1"/>
          <p:nvPr/>
        </p:nvSpPr>
        <p:spPr>
          <a:xfrm>
            <a:off x="868680" y="4663440"/>
            <a:ext cx="65836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Esta combinación permite desarrollar el sistema de forma incremental, con seguimiento constante del avance y capacidad de adaptarse a cambios o nuevas necesidades.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quipo trabajando en el taller" id="393" name="Google Shape;3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2440" y="1600200"/>
            <a:ext cx="356616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4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09 · ROLES</a:t>
            </a:r>
            <a:endParaRPr sz="1200"/>
          </a:p>
        </p:txBody>
      </p:sp>
      <p:sp>
        <p:nvSpPr>
          <p:cNvPr id="401" name="Google Shape;401;p15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lang="en-US"/>
              <a:t>Roles</a:t>
            </a:r>
            <a:endParaRPr sz="3400"/>
          </a:p>
        </p:txBody>
      </p:sp>
      <p:sp>
        <p:nvSpPr>
          <p:cNvPr id="402" name="Google Shape;402;p15"/>
          <p:cNvSpPr/>
          <p:nvPr/>
        </p:nvSpPr>
        <p:spPr>
          <a:xfrm>
            <a:off x="548640" y="1645920"/>
            <a:ext cx="2587752" cy="4389120"/>
          </a:xfrm>
          <a:prstGeom prst="roundRect">
            <a:avLst>
              <a:gd fmla="val 4240" name="adj"/>
            </a:avLst>
          </a:prstGeom>
          <a:solidFill>
            <a:schemeClr val="lt1"/>
          </a:solidFill>
          <a:ln cap="flat" cmpd="sng" w="12700">
            <a:solidFill>
              <a:srgbClr val="E3E1E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864108" y="1947672"/>
            <a:ext cx="1956816" cy="19568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928116" y="201168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 txBox="1"/>
          <p:nvPr/>
        </p:nvSpPr>
        <p:spPr>
          <a:xfrm>
            <a:off x="548640" y="4251960"/>
            <a:ext cx="2587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PRODUCT OWNER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 txBox="1"/>
          <p:nvPr/>
        </p:nvSpPr>
        <p:spPr>
          <a:xfrm>
            <a:off x="548640" y="4617720"/>
            <a:ext cx="2587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Carolina Palma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 txBox="1"/>
          <p:nvPr/>
        </p:nvSpPr>
        <p:spPr>
          <a:xfrm>
            <a:off x="548640" y="5074920"/>
            <a:ext cx="2587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Cliente · Mil y Una Ideas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3364992" y="1645920"/>
            <a:ext cx="2587752" cy="4389120"/>
          </a:xfrm>
          <a:prstGeom prst="roundRect">
            <a:avLst>
              <a:gd fmla="val 4240" name="adj"/>
            </a:avLst>
          </a:prstGeom>
          <a:solidFill>
            <a:schemeClr val="lt1"/>
          </a:solidFill>
          <a:ln cap="flat" cmpd="sng" w="12700">
            <a:solidFill>
              <a:srgbClr val="E3E1E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3680460" y="1947672"/>
            <a:ext cx="1956816" cy="19568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ías González" id="410" name="Google Shape;4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4468" y="2011680"/>
            <a:ext cx="1828800" cy="182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11" name="Google Shape;411;p15"/>
          <p:cNvSpPr txBox="1"/>
          <p:nvPr/>
        </p:nvSpPr>
        <p:spPr>
          <a:xfrm>
            <a:off x="3364992" y="4251960"/>
            <a:ext cx="2587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SCRUM MASTER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 txBox="1"/>
          <p:nvPr/>
        </p:nvSpPr>
        <p:spPr>
          <a:xfrm>
            <a:off x="3364992" y="4617720"/>
            <a:ext cx="2587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Matías González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 txBox="1"/>
          <p:nvPr/>
        </p:nvSpPr>
        <p:spPr>
          <a:xfrm>
            <a:off x="3364992" y="5074920"/>
            <a:ext cx="2587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Equipo de desarrollo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6181344" y="1645920"/>
            <a:ext cx="2587752" cy="4389120"/>
          </a:xfrm>
          <a:prstGeom prst="roundRect">
            <a:avLst>
              <a:gd fmla="val 4240" name="adj"/>
            </a:avLst>
          </a:prstGeom>
          <a:solidFill>
            <a:schemeClr val="lt1"/>
          </a:solidFill>
          <a:ln cap="flat" cmpd="sng" w="12700">
            <a:solidFill>
              <a:srgbClr val="E3E1E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6496812" y="1947672"/>
            <a:ext cx="1956816" cy="195681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molenks Aravena" id="416" name="Google Shape;4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0820" y="2011680"/>
            <a:ext cx="1828800" cy="182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17" name="Google Shape;417;p15"/>
          <p:cNvSpPr txBox="1"/>
          <p:nvPr/>
        </p:nvSpPr>
        <p:spPr>
          <a:xfrm>
            <a:off x="6181344" y="4251960"/>
            <a:ext cx="2587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 txBox="1"/>
          <p:nvPr/>
        </p:nvSpPr>
        <p:spPr>
          <a:xfrm>
            <a:off x="6181344" y="4617720"/>
            <a:ext cx="2587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Smolenks Aravena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6181344" y="5074920"/>
            <a:ext cx="2587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Equipo de desarrollo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8997696" y="1645920"/>
            <a:ext cx="2587752" cy="4389120"/>
          </a:xfrm>
          <a:prstGeom prst="roundRect">
            <a:avLst>
              <a:gd fmla="val 4240" name="adj"/>
            </a:avLst>
          </a:prstGeom>
          <a:solidFill>
            <a:schemeClr val="lt1"/>
          </a:solidFill>
          <a:ln cap="flat" cmpd="sng" w="12700">
            <a:solidFill>
              <a:srgbClr val="E3E1E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9313164" y="1947672"/>
            <a:ext cx="1956816" cy="195681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Jean Leyton" id="422" name="Google Shape;4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7172" y="2011680"/>
            <a:ext cx="1828800" cy="182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23" name="Google Shape;423;p15"/>
          <p:cNvSpPr txBox="1"/>
          <p:nvPr/>
        </p:nvSpPr>
        <p:spPr>
          <a:xfrm>
            <a:off x="8997696" y="4251960"/>
            <a:ext cx="2587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8997696" y="4617720"/>
            <a:ext cx="2587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Jean Leyton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8997696" y="5074920"/>
            <a:ext cx="2587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Equipo de desarrollo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p15" title="WhatsApp Image 2026-10-13 at 09.33.07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8100" y="1999531"/>
            <a:ext cx="1828800" cy="1853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h4cf320f8c930a449_1_181"/>
          <p:cNvSpPr txBox="1"/>
          <p:nvPr>
            <p:ph idx="1" type="body"/>
          </p:nvPr>
        </p:nvSpPr>
        <p:spPr>
          <a:xfrm>
            <a:off x="548640" y="2331720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b="1" lang="en-US" sz="1600">
                <a:solidFill>
                  <a:schemeClr val="accent2"/>
                </a:solidFill>
              </a:rPr>
              <a:t>10.0 · </a:t>
            </a:r>
            <a:r>
              <a:rPr lang="en-US"/>
              <a:t>EVIDENCIAS</a:t>
            </a:r>
            <a:endParaRPr sz="1600"/>
          </a:p>
        </p:txBody>
      </p:sp>
      <p:sp>
        <p:nvSpPr>
          <p:cNvPr id="434" name="Google Shape;434;h4cf320f8c930a449_1_181"/>
          <p:cNvSpPr txBox="1"/>
          <p:nvPr>
            <p:ph type="title"/>
          </p:nvPr>
        </p:nvSpPr>
        <p:spPr>
          <a:xfrm>
            <a:off x="548650" y="2743200"/>
            <a:ext cx="54018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Evidencias </a:t>
            </a:r>
            <a:r>
              <a:rPr lang="en-US"/>
              <a:t>S</a:t>
            </a:r>
            <a:r>
              <a:rPr b="1"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print </a:t>
            </a:r>
            <a:r>
              <a:rPr lang="en-US"/>
              <a:t>0</a:t>
            </a:r>
            <a:endParaRPr sz="4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4cf320f8c930a449_1_115"/>
          <p:cNvSpPr txBox="1"/>
          <p:nvPr>
            <p:ph idx="1" type="body"/>
          </p:nvPr>
        </p:nvSpPr>
        <p:spPr>
          <a:xfrm>
            <a:off x="548640" y="32004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10.0 · </a:t>
            </a:r>
            <a:r>
              <a:rPr lang="en-US"/>
              <a:t>CONFIRMACIÓN CLIENTE Y BURNDOWN CHART</a:t>
            </a:r>
            <a:endParaRPr sz="1200"/>
          </a:p>
        </p:txBody>
      </p:sp>
      <p:sp>
        <p:nvSpPr>
          <p:cNvPr id="441" name="Google Shape;441;h4cf320f8c930a449_1_115"/>
          <p:cNvSpPr txBox="1"/>
          <p:nvPr>
            <p:ph type="title"/>
          </p:nvPr>
        </p:nvSpPr>
        <p:spPr>
          <a:xfrm>
            <a:off x="548640" y="566928"/>
            <a:ext cx="11064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lang="en-US"/>
              <a:t>Confirmación Y Burndown Chart</a:t>
            </a:r>
            <a:endParaRPr sz="3400"/>
          </a:p>
        </p:txBody>
      </p:sp>
      <p:sp>
        <p:nvSpPr>
          <p:cNvPr id="442" name="Google Shape;442;h4cf320f8c930a449_1_115"/>
          <p:cNvSpPr txBox="1"/>
          <p:nvPr>
            <p:ph idx="4294967295" type="sldNum"/>
          </p:nvPr>
        </p:nvSpPr>
        <p:spPr>
          <a:xfrm>
            <a:off x="11155680" y="6400800"/>
            <a:ext cx="50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3" name="Google Shape;443;h4cf320f8c930a449_1_115" title="Chart"/>
          <p:cNvPicPr preferRelativeResize="0"/>
          <p:nvPr/>
        </p:nvPicPr>
        <p:blipFill rotWithShape="1">
          <a:blip r:embed="rId3">
            <a:alphaModFix/>
          </a:blip>
          <a:srcRect b="3500" l="1865" r="0" t="11947"/>
          <a:stretch/>
        </p:blipFill>
        <p:spPr>
          <a:xfrm>
            <a:off x="5050306" y="1322450"/>
            <a:ext cx="6600600" cy="3687300"/>
          </a:xfrm>
          <a:prstGeom prst="roundRect">
            <a:avLst>
              <a:gd fmla="val 4735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44" name="Google Shape;444;h4cf320f8c930a449_1_115"/>
          <p:cNvSpPr/>
          <p:nvPr/>
        </p:nvSpPr>
        <p:spPr>
          <a:xfrm>
            <a:off x="541094" y="1322450"/>
            <a:ext cx="4387500" cy="3687300"/>
          </a:xfrm>
          <a:prstGeom prst="roundRect">
            <a:avLst>
              <a:gd fmla="val 244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h4cf320f8c930a449_1_115"/>
          <p:cNvSpPr txBox="1"/>
          <p:nvPr/>
        </p:nvSpPr>
        <p:spPr>
          <a:xfrm>
            <a:off x="800879" y="1508408"/>
            <a:ext cx="3868200" cy="24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“Les escribo para confirmar que estoy totalmente conforme con el Acta de Sprint Review del Sprint 0 y con el trabajo que han realizado hasta ahora. Quedo atenta a los avances del modelado y del sistema. ¡Mucho éxito en esta nueva etapa!”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h4cf320f8c930a449_1_115"/>
          <p:cNvSpPr txBox="1"/>
          <p:nvPr/>
        </p:nvSpPr>
        <p:spPr>
          <a:xfrm>
            <a:off x="800881" y="4094296"/>
            <a:ext cx="3868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Carolina Palma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6E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7D6E4"/>
                </a:solidFill>
                <a:latin typeface="Calibri"/>
                <a:ea typeface="Calibri"/>
                <a:cs typeface="Calibri"/>
                <a:sym typeface="Calibri"/>
              </a:rPr>
              <a:t>Representante legal de Mil y Una Ideas SpA · 16 sept.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0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10.</a:t>
            </a:r>
            <a:r>
              <a:rPr lang="en-US"/>
              <a:t>0</a:t>
            </a:r>
            <a:r>
              <a:rPr b="1" lang="en-US" sz="1200">
                <a:solidFill>
                  <a:schemeClr val="accent1"/>
                </a:solidFill>
              </a:rPr>
              <a:t> · TABLERO KANBAN</a:t>
            </a:r>
            <a:endParaRPr sz="1200"/>
          </a:p>
        </p:txBody>
      </p:sp>
      <p:sp>
        <p:nvSpPr>
          <p:cNvPr id="453" name="Google Shape;453;p20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Kanban</a:t>
            </a:r>
            <a:endParaRPr sz="3400"/>
          </a:p>
        </p:txBody>
      </p:sp>
      <p:sp>
        <p:nvSpPr>
          <p:cNvPr id="454" name="Google Shape;454;p20"/>
          <p:cNvSpPr/>
          <p:nvPr/>
        </p:nvSpPr>
        <p:spPr>
          <a:xfrm>
            <a:off x="548640" y="1463040"/>
            <a:ext cx="1691640" cy="384048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0"/>
          <p:cNvSpPr txBox="1"/>
          <p:nvPr/>
        </p:nvSpPr>
        <p:spPr>
          <a:xfrm>
            <a:off x="548640" y="146304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Por hacer</a:t>
            </a: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· 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2377440" y="1463040"/>
            <a:ext cx="1691640" cy="384048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0"/>
          <p:cNvSpPr txBox="1"/>
          <p:nvPr/>
        </p:nvSpPr>
        <p:spPr>
          <a:xfrm>
            <a:off x="2377440" y="146304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Haciendo</a:t>
            </a: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· 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4206240" y="1463040"/>
            <a:ext cx="1691640" cy="384048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0"/>
          <p:cNvSpPr txBox="1"/>
          <p:nvPr/>
        </p:nvSpPr>
        <p:spPr>
          <a:xfrm>
            <a:off x="4206240" y="146304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Hecho</a:t>
            </a: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·  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548640" y="2057400"/>
            <a:ext cx="5431536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0"/>
          <p:cNvSpPr txBox="1"/>
          <p:nvPr/>
        </p:nvSpPr>
        <p:spPr>
          <a:xfrm>
            <a:off x="713232" y="2057400"/>
            <a:ext cx="51023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 de requerimientos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548640" y="2935224"/>
            <a:ext cx="5431536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0"/>
          <p:cNvSpPr txBox="1"/>
          <p:nvPr/>
        </p:nvSpPr>
        <p:spPr>
          <a:xfrm>
            <a:off x="713232" y="2935224"/>
            <a:ext cx="51023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Investigación de tecnologías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548640" y="3813048"/>
            <a:ext cx="5431536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0"/>
          <p:cNvSpPr txBox="1"/>
          <p:nvPr/>
        </p:nvSpPr>
        <p:spPr>
          <a:xfrm>
            <a:off x="713232" y="3813048"/>
            <a:ext cx="51023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de repositorio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548640" y="4690872"/>
            <a:ext cx="5431536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0"/>
          <p:cNvSpPr txBox="1"/>
          <p:nvPr/>
        </p:nvSpPr>
        <p:spPr>
          <a:xfrm>
            <a:off x="713232" y="4690872"/>
            <a:ext cx="51023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de entorno de desarrollo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6208776" y="2057400"/>
            <a:ext cx="5431536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0"/>
          <p:cNvSpPr txBox="1"/>
          <p:nvPr/>
        </p:nvSpPr>
        <p:spPr>
          <a:xfrm>
            <a:off x="6373368" y="2057400"/>
            <a:ext cx="51023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 historias de usuario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6208776" y="2935224"/>
            <a:ext cx="5431536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0"/>
          <p:cNvSpPr txBox="1"/>
          <p:nvPr/>
        </p:nvSpPr>
        <p:spPr>
          <a:xfrm>
            <a:off x="6373368" y="2935224"/>
            <a:ext cx="51023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preliminar de arquitectura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6208776" y="3813048"/>
            <a:ext cx="5431536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0"/>
          <p:cNvSpPr txBox="1"/>
          <p:nvPr/>
        </p:nvSpPr>
        <p:spPr>
          <a:xfrm>
            <a:off x="6373368" y="3813048"/>
            <a:ext cx="51023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de requerimientos con el cliente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6208776" y="4690872"/>
            <a:ext cx="5431536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0"/>
          <p:cNvSpPr txBox="1"/>
          <p:nvPr/>
        </p:nvSpPr>
        <p:spPr>
          <a:xfrm>
            <a:off x="6373368" y="4690872"/>
            <a:ext cx="51023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de hitos y definición de sprints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h4cf320f8c930a449_1_133"/>
          <p:cNvSpPr txBox="1"/>
          <p:nvPr>
            <p:ph idx="1" type="body"/>
          </p:nvPr>
        </p:nvSpPr>
        <p:spPr>
          <a:xfrm>
            <a:off x="548640" y="2331720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b="1" lang="en-US" sz="1600">
                <a:solidFill>
                  <a:schemeClr val="accent2"/>
                </a:solidFill>
              </a:rPr>
              <a:t>10.1 · </a:t>
            </a:r>
            <a:r>
              <a:rPr lang="en-US"/>
              <a:t>EVIDENCIAS</a:t>
            </a:r>
            <a:endParaRPr sz="1600"/>
          </a:p>
        </p:txBody>
      </p:sp>
      <p:sp>
        <p:nvSpPr>
          <p:cNvPr id="483" name="Google Shape;483;h4cf320f8c930a449_1_133"/>
          <p:cNvSpPr txBox="1"/>
          <p:nvPr>
            <p:ph type="title"/>
          </p:nvPr>
        </p:nvSpPr>
        <p:spPr>
          <a:xfrm>
            <a:off x="548640" y="2743200"/>
            <a:ext cx="6400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Evidencias </a:t>
            </a:r>
            <a:r>
              <a:rPr lang="en-US"/>
              <a:t>S</a:t>
            </a:r>
            <a:r>
              <a:rPr b="1"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print 1</a:t>
            </a:r>
            <a:endParaRPr sz="4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h4cf320f8c930a449_1_61"/>
          <p:cNvSpPr txBox="1"/>
          <p:nvPr>
            <p:ph idx="1" type="body"/>
          </p:nvPr>
        </p:nvSpPr>
        <p:spPr>
          <a:xfrm>
            <a:off x="548640" y="32004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10.1 · </a:t>
            </a:r>
            <a:r>
              <a:rPr lang="en-US"/>
              <a:t>CONFIRMACIÓN CLIENTE Y BURNDOWN CHART</a:t>
            </a:r>
            <a:endParaRPr sz="1200"/>
          </a:p>
        </p:txBody>
      </p:sp>
      <p:sp>
        <p:nvSpPr>
          <p:cNvPr id="490" name="Google Shape;490;h4cf320f8c930a449_1_61"/>
          <p:cNvSpPr txBox="1"/>
          <p:nvPr>
            <p:ph type="title"/>
          </p:nvPr>
        </p:nvSpPr>
        <p:spPr>
          <a:xfrm>
            <a:off x="548640" y="566928"/>
            <a:ext cx="11064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lang="en-US"/>
              <a:t>Confirmación Y Burndown Chart</a:t>
            </a:r>
            <a:endParaRPr/>
          </a:p>
        </p:txBody>
      </p:sp>
      <p:sp>
        <p:nvSpPr>
          <p:cNvPr id="491" name="Google Shape;491;h4cf320f8c930a449_1_61"/>
          <p:cNvSpPr txBox="1"/>
          <p:nvPr>
            <p:ph idx="4294967295" type="sldNum"/>
          </p:nvPr>
        </p:nvSpPr>
        <p:spPr>
          <a:xfrm>
            <a:off x="11155680" y="6400800"/>
            <a:ext cx="50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h4cf320f8c930a449_1_61"/>
          <p:cNvSpPr/>
          <p:nvPr/>
        </p:nvSpPr>
        <p:spPr>
          <a:xfrm>
            <a:off x="860700" y="2098350"/>
            <a:ext cx="3045900" cy="2262300"/>
          </a:xfrm>
          <a:prstGeom prst="roundRect">
            <a:avLst>
              <a:gd fmla="val 244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9525" lIns="99525" spcFirstLastPara="1" rIns="99525" wrap="square" tIns="9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h4cf320f8c930a449_1_61"/>
          <p:cNvSpPr txBox="1"/>
          <p:nvPr/>
        </p:nvSpPr>
        <p:spPr>
          <a:xfrm>
            <a:off x="1041035" y="2293351"/>
            <a:ext cx="26847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60"/>
              <a:buFont typeface="Calibri"/>
              <a:buNone/>
            </a:pPr>
            <a:r>
              <a:rPr b="0" i="1" lang="en-US" sz="196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i="1" lang="en-US" sz="196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Recibido y aceptado. Está todo ok.”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h4cf320f8c930a449_1_61"/>
          <p:cNvSpPr txBox="1"/>
          <p:nvPr/>
        </p:nvSpPr>
        <p:spPr>
          <a:xfrm>
            <a:off x="1041035" y="3343224"/>
            <a:ext cx="26847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24"/>
              <a:buFont typeface="Calibri"/>
              <a:buNone/>
            </a:pPr>
            <a:r>
              <a:rPr b="1" i="0" lang="en-US" sz="1524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Carolina Palma</a:t>
            </a:r>
            <a:endParaRPr b="0" i="0" sz="15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6E4"/>
              </a:buClr>
              <a:buSzPts val="1524"/>
              <a:buFont typeface="Calibri"/>
              <a:buNone/>
            </a:pPr>
            <a:r>
              <a:rPr b="0" i="0" lang="en-US" sz="1524" u="none" cap="none" strike="noStrike">
                <a:solidFill>
                  <a:srgbClr val="D7D6E4"/>
                </a:solidFill>
                <a:latin typeface="Calibri"/>
                <a:ea typeface="Calibri"/>
                <a:cs typeface="Calibri"/>
                <a:sym typeface="Calibri"/>
              </a:rPr>
              <a:t>Representante legal de Mil y Una Ideas SpA · </a:t>
            </a:r>
            <a:r>
              <a:rPr lang="en-US" sz="1524">
                <a:solidFill>
                  <a:srgbClr val="D7D6E4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0" i="0" lang="en-US" sz="1524" u="none" cap="none" strike="noStrike">
                <a:solidFill>
                  <a:srgbClr val="D7D6E4"/>
                </a:solidFill>
                <a:latin typeface="Calibri"/>
                <a:ea typeface="Calibri"/>
                <a:cs typeface="Calibri"/>
                <a:sym typeface="Calibri"/>
              </a:rPr>
              <a:t> sept.</a:t>
            </a:r>
            <a:endParaRPr b="0" i="0" sz="15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5" name="Google Shape;495;h4cf320f8c930a449_1_61" title="Chart"/>
          <p:cNvPicPr preferRelativeResize="0"/>
          <p:nvPr/>
        </p:nvPicPr>
        <p:blipFill rotWithShape="1">
          <a:blip r:embed="rId3">
            <a:alphaModFix/>
          </a:blip>
          <a:srcRect b="4206" l="1980" r="0" t="11513"/>
          <a:stretch/>
        </p:blipFill>
        <p:spPr>
          <a:xfrm>
            <a:off x="4893025" y="1722750"/>
            <a:ext cx="6418800" cy="3412500"/>
          </a:xfrm>
          <a:prstGeom prst="roundRect">
            <a:avLst>
              <a:gd fmla="val 667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10.</a:t>
            </a:r>
            <a:r>
              <a:rPr lang="en-US"/>
              <a:t>1</a:t>
            </a:r>
            <a:r>
              <a:rPr b="1" lang="en-US" sz="1200">
                <a:solidFill>
                  <a:schemeClr val="accent1"/>
                </a:solidFill>
              </a:rPr>
              <a:t> · TABLERO KANBAN</a:t>
            </a:r>
            <a:endParaRPr sz="1200"/>
          </a:p>
        </p:txBody>
      </p:sp>
      <p:sp>
        <p:nvSpPr>
          <p:cNvPr id="502" name="Google Shape;502;p21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Kanban</a:t>
            </a:r>
            <a:endParaRPr sz="3400"/>
          </a:p>
        </p:txBody>
      </p:sp>
      <p:sp>
        <p:nvSpPr>
          <p:cNvPr id="503" name="Google Shape;503;p21"/>
          <p:cNvSpPr/>
          <p:nvPr/>
        </p:nvSpPr>
        <p:spPr>
          <a:xfrm>
            <a:off x="548640" y="2057400"/>
            <a:ext cx="3544824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1"/>
          <p:cNvSpPr txBox="1"/>
          <p:nvPr/>
        </p:nvSpPr>
        <p:spPr>
          <a:xfrm>
            <a:off x="713232" y="2057400"/>
            <a:ext cx="3215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de login con correo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1"/>
          <p:cNvSpPr/>
          <p:nvPr/>
        </p:nvSpPr>
        <p:spPr>
          <a:xfrm>
            <a:off x="548640" y="2935224"/>
            <a:ext cx="3544824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1"/>
          <p:cNvSpPr txBox="1"/>
          <p:nvPr/>
        </p:nvSpPr>
        <p:spPr>
          <a:xfrm>
            <a:off x="713232" y="2935224"/>
            <a:ext cx="3215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del esquema relacional de la base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548640" y="3813048"/>
            <a:ext cx="3544824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1"/>
          <p:cNvSpPr txBox="1"/>
          <p:nvPr/>
        </p:nvSpPr>
        <p:spPr>
          <a:xfrm>
            <a:off x="713232" y="3813048"/>
            <a:ext cx="3215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de la conexión de la base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1"/>
          <p:cNvSpPr/>
          <p:nvPr/>
        </p:nvSpPr>
        <p:spPr>
          <a:xfrm>
            <a:off x="548640" y="4690872"/>
            <a:ext cx="3544824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1"/>
          <p:cNvSpPr txBox="1"/>
          <p:nvPr/>
        </p:nvSpPr>
        <p:spPr>
          <a:xfrm>
            <a:off x="713232" y="4690872"/>
            <a:ext cx="3215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Autenticación por roles (Jefa, Operaria, Cortadora)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1"/>
          <p:cNvSpPr/>
          <p:nvPr/>
        </p:nvSpPr>
        <p:spPr>
          <a:xfrm>
            <a:off x="4322064" y="2057400"/>
            <a:ext cx="3544824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1"/>
          <p:cNvSpPr txBox="1"/>
          <p:nvPr/>
        </p:nvSpPr>
        <p:spPr>
          <a:xfrm>
            <a:off x="4486656" y="2057400"/>
            <a:ext cx="3215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Conexión con backend para registro de pedidos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1"/>
          <p:cNvSpPr/>
          <p:nvPr/>
        </p:nvSpPr>
        <p:spPr>
          <a:xfrm>
            <a:off x="4322064" y="2935224"/>
            <a:ext cx="3544824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1"/>
          <p:cNvSpPr txBox="1"/>
          <p:nvPr/>
        </p:nvSpPr>
        <p:spPr>
          <a:xfrm>
            <a:off x="4486656" y="2935224"/>
            <a:ext cx="3215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 de estados generales del pedido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4322064" y="3813048"/>
            <a:ext cx="3544824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1"/>
          <p:cNvSpPr txBox="1"/>
          <p:nvPr/>
        </p:nvSpPr>
        <p:spPr>
          <a:xfrm>
            <a:off x="4486656" y="3813048"/>
            <a:ext cx="3215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 de listado y detalle de pedidos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4322064" y="4690872"/>
            <a:ext cx="3544824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1"/>
          <p:cNvSpPr txBox="1"/>
          <p:nvPr/>
        </p:nvSpPr>
        <p:spPr>
          <a:xfrm>
            <a:off x="4486656" y="4690872"/>
            <a:ext cx="3215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Barra de búsqueda de pedidos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1"/>
          <p:cNvSpPr/>
          <p:nvPr/>
        </p:nvSpPr>
        <p:spPr>
          <a:xfrm>
            <a:off x="8095488" y="2057400"/>
            <a:ext cx="3544824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1"/>
          <p:cNvSpPr txBox="1"/>
          <p:nvPr/>
        </p:nvSpPr>
        <p:spPr>
          <a:xfrm>
            <a:off x="8260080" y="2057400"/>
            <a:ext cx="3215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tipos de prendas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8095488" y="2935224"/>
            <a:ext cx="3544824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1"/>
          <p:cNvSpPr txBox="1"/>
          <p:nvPr/>
        </p:nvSpPr>
        <p:spPr>
          <a:xfrm>
            <a:off x="8260080" y="2935224"/>
            <a:ext cx="3215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de registro de pedidos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8095488" y="3813048"/>
            <a:ext cx="3544824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1"/>
          <p:cNvSpPr txBox="1"/>
          <p:nvPr/>
        </p:nvSpPr>
        <p:spPr>
          <a:xfrm>
            <a:off x="8260080" y="3813048"/>
            <a:ext cx="3215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unitarias e integración del Sprint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8095488" y="4690872"/>
            <a:ext cx="3544824" cy="713232"/>
          </a:xfrm>
          <a:prstGeom prst="roundRect">
            <a:avLst>
              <a:gd fmla="val 1025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1"/>
          <p:cNvSpPr txBox="1"/>
          <p:nvPr/>
        </p:nvSpPr>
        <p:spPr>
          <a:xfrm>
            <a:off x="8260080" y="4690872"/>
            <a:ext cx="3215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Reunión de avance y validación con el cliente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1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548640" y="1463040"/>
            <a:ext cx="1691700" cy="384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1"/>
          <p:cNvSpPr txBox="1"/>
          <p:nvPr/>
        </p:nvSpPr>
        <p:spPr>
          <a:xfrm>
            <a:off x="548640" y="1463040"/>
            <a:ext cx="1691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Por hacer</a:t>
            </a: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· 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1"/>
          <p:cNvSpPr/>
          <p:nvPr/>
        </p:nvSpPr>
        <p:spPr>
          <a:xfrm>
            <a:off x="2377440" y="1463040"/>
            <a:ext cx="1691700" cy="384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1"/>
          <p:cNvSpPr txBox="1"/>
          <p:nvPr/>
        </p:nvSpPr>
        <p:spPr>
          <a:xfrm>
            <a:off x="2377440" y="1463040"/>
            <a:ext cx="1691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Haciendo</a:t>
            </a: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· 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4206240" y="1463040"/>
            <a:ext cx="1691700" cy="384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1"/>
          <p:cNvSpPr txBox="1"/>
          <p:nvPr/>
        </p:nvSpPr>
        <p:spPr>
          <a:xfrm>
            <a:off x="4206240" y="1463040"/>
            <a:ext cx="1691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Hecho</a:t>
            </a: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h4cf320f8c930a449_1_214"/>
          <p:cNvSpPr txBox="1"/>
          <p:nvPr>
            <p:ph idx="1" type="body"/>
          </p:nvPr>
        </p:nvSpPr>
        <p:spPr>
          <a:xfrm>
            <a:off x="548640" y="32004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10.</a:t>
            </a:r>
            <a:r>
              <a:rPr lang="en-US"/>
              <a:t>1</a:t>
            </a:r>
            <a:r>
              <a:rPr b="1" lang="en-US" sz="1200">
                <a:solidFill>
                  <a:schemeClr val="accent1"/>
                </a:solidFill>
              </a:rPr>
              <a:t> · </a:t>
            </a:r>
            <a:r>
              <a:rPr lang="en-US"/>
              <a:t>SPRINT BACKLOG</a:t>
            </a:r>
            <a:endParaRPr sz="1200"/>
          </a:p>
        </p:txBody>
      </p:sp>
      <p:sp>
        <p:nvSpPr>
          <p:cNvPr id="540" name="Google Shape;540;h4cf320f8c930a449_1_214"/>
          <p:cNvSpPr txBox="1"/>
          <p:nvPr>
            <p:ph type="title"/>
          </p:nvPr>
        </p:nvSpPr>
        <p:spPr>
          <a:xfrm>
            <a:off x="548640" y="566928"/>
            <a:ext cx="11064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lang="en-US"/>
              <a:t>Sprint</a:t>
            </a: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Backl</a:t>
            </a:r>
            <a:r>
              <a:rPr lang="en-US"/>
              <a:t>og</a:t>
            </a:r>
            <a:endParaRPr sz="3400"/>
          </a:p>
        </p:txBody>
      </p:sp>
      <p:graphicFrame>
        <p:nvGraphicFramePr>
          <p:cNvPr id="541" name="Google Shape;541;h4cf320f8c930a449_1_214"/>
          <p:cNvGraphicFramePr/>
          <p:nvPr/>
        </p:nvGraphicFramePr>
        <p:xfrm>
          <a:off x="54864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{92D7990F-C0F9-4EB0-9FD0-6997CF298960}</a:tableStyleId>
              </a:tblPr>
              <a:tblGrid>
                <a:gridCol w="10152100"/>
                <a:gridCol w="9122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 de usuario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Puntos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3B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H-4 - Como Jefa de taller quiero definir el estado de entrega de los pedidos para diferenciar cuándo una prenda está finalizada o si ha sido entregada al cliente.</a:t>
                      </a:r>
                      <a:endParaRPr sz="1300">
                        <a:solidFill>
                          <a:srgbClr val="22223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H-5 - Como Jefa de taller, quiero registrar los pedidos de los clientes, para mantener un control organizado de los trabajos solicitados.</a:t>
                      </a:r>
                      <a:endParaRPr sz="1300">
                        <a:solidFill>
                          <a:srgbClr val="22223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H-6 - Como Jefa de taller, quiero poder consultar los pedidos registrados y sus detalles, para acceder fácilmente a la información de cada trabajo cuando la necesite.</a:t>
                      </a:r>
                      <a:endParaRPr sz="1300">
                        <a:solidFill>
                          <a:srgbClr val="22223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H-7 - Como Jefa de taller, quiero mantener un registro de los pedidos realizados, para contar con un respaldo de los detalles acordados con cada cliente y evitar la pérdida de información.</a:t>
                      </a:r>
                      <a:endParaRPr sz="1300">
                        <a:solidFill>
                          <a:srgbClr val="22223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H-9 - Como Jefa de taller, quiero poder registrar un tipo de prenda para poder mantener los catálogos organizados.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H-13 - Como Dueña de la empresa quiero que los clientes puedan consultar los precios de los servicios de forma autónoma, para evitar tener que responder constantemente preguntas sobre los precios y poder dedicar más tiempo a otras actividades del taller.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H-14 - Como cliente quiero poder visitar las redes sociales del taller, para conocer sus servicios y ver sus trabajos realizados para tener una referencia de estos.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H-15 - Como cliente, quiero poder acceder a los diferentes medios de comunicación disponibles con la jefa de taller, para poder realizar consultas, solicitar información y mantener una comunicación más rápida y eficaz.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H-16 - Como cliente quiero ver fotos de los trabajos realizados para comprobar la calidad del servicio. 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H-17 - Como cliente quiero ver los precios y tarifas de los servicios para evaluar si se ajustan a mi presupuesto.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H-19 - Como Jefa de taller, quiero que mis trabajadores solo tengan permitido ciertos accesos del sistema.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3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10.</a:t>
            </a:r>
            <a:r>
              <a:rPr lang="en-US"/>
              <a:t>1</a:t>
            </a:r>
            <a:r>
              <a:rPr b="1" lang="en-US" sz="1200">
                <a:solidFill>
                  <a:schemeClr val="accent1"/>
                </a:solidFill>
              </a:rPr>
              <a:t> · IMPEDIMENT LOG</a:t>
            </a:r>
            <a:endParaRPr sz="1200"/>
          </a:p>
        </p:txBody>
      </p:sp>
      <p:sp>
        <p:nvSpPr>
          <p:cNvPr id="548" name="Google Shape;548;p23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Impedimentos </a:t>
            </a:r>
            <a:r>
              <a:rPr lang="en-US"/>
              <a:t>-</a:t>
            </a: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Sprint 1</a:t>
            </a:r>
            <a:endParaRPr sz="3400"/>
          </a:p>
        </p:txBody>
      </p:sp>
      <p:graphicFrame>
        <p:nvGraphicFramePr>
          <p:cNvPr id="549" name="Google Shape;549;p23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{92D7990F-C0F9-4EB0-9FD0-6997CF298960}</a:tableStyleId>
              </a:tblPr>
              <a:tblGrid>
                <a:gridCol w="777250"/>
                <a:gridCol w="1188725"/>
                <a:gridCol w="2834650"/>
                <a:gridCol w="3063250"/>
                <a:gridCol w="960125"/>
                <a:gridCol w="1005850"/>
                <a:gridCol w="12618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Impedimento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Cómo lo solucionamos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Prioridad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Resolución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3B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IMP-1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12/09/2026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poder establecer contraseña debido al deploy de la web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Realizar deploy del sistema en Vercel al finalizar el backlog pendiente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572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457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A19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9A19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Resuelto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29/09/2026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IMP-2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15/09/2026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contar con la información de los precios fijos de prendas escolares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Solicitud a la cliente de datos de costos por tipo de prenda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7A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B07A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A19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9A19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Resuelto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17/09/2026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IMP-3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21/09/2026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contar con Scrum Master por problemas personales urgentes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Smolenks asume el rol mientras Matías resuelve sus problemas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572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457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A19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9A19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Resuelto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21/09/2026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0" name="Google Shape;550;p23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h4cf320f8c930a449_1_187"/>
          <p:cNvSpPr txBox="1"/>
          <p:nvPr>
            <p:ph idx="1" type="body"/>
          </p:nvPr>
        </p:nvSpPr>
        <p:spPr>
          <a:xfrm>
            <a:off x="548640" y="2331720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b="1" lang="en-US" sz="1600">
                <a:solidFill>
                  <a:schemeClr val="accent2"/>
                </a:solidFill>
              </a:rPr>
              <a:t>10.2 · </a:t>
            </a:r>
            <a:r>
              <a:rPr lang="en-US"/>
              <a:t>EVIDENCIAS</a:t>
            </a:r>
            <a:endParaRPr sz="1600"/>
          </a:p>
        </p:txBody>
      </p:sp>
      <p:sp>
        <p:nvSpPr>
          <p:cNvPr id="557" name="Google Shape;557;h4cf320f8c930a449_1_187"/>
          <p:cNvSpPr txBox="1"/>
          <p:nvPr>
            <p:ph type="title"/>
          </p:nvPr>
        </p:nvSpPr>
        <p:spPr>
          <a:xfrm>
            <a:off x="548640" y="2743200"/>
            <a:ext cx="6400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Evidencias </a:t>
            </a:r>
            <a:r>
              <a:rPr lang="en-US"/>
              <a:t>S</a:t>
            </a:r>
            <a:r>
              <a:rPr b="1"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print </a:t>
            </a:r>
            <a:r>
              <a:rPr lang="en-US"/>
              <a:t>2</a:t>
            </a:r>
            <a:br>
              <a:rPr lang="en-US"/>
            </a:br>
            <a:r>
              <a:rPr lang="en-US"/>
              <a:t>(en curso)</a:t>
            </a:r>
            <a:endParaRPr sz="4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h4cf320f8c930a449_1_75"/>
          <p:cNvSpPr txBox="1"/>
          <p:nvPr>
            <p:ph idx="1" type="body"/>
          </p:nvPr>
        </p:nvSpPr>
        <p:spPr>
          <a:xfrm>
            <a:off x="548640" y="32004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10.2 · </a:t>
            </a:r>
            <a:r>
              <a:rPr lang="en-US"/>
              <a:t>BURNDOWN CHART</a:t>
            </a:r>
            <a:endParaRPr sz="1200"/>
          </a:p>
        </p:txBody>
      </p:sp>
      <p:sp>
        <p:nvSpPr>
          <p:cNvPr id="564" name="Google Shape;564;h4cf320f8c930a449_1_75"/>
          <p:cNvSpPr txBox="1"/>
          <p:nvPr>
            <p:ph type="title"/>
          </p:nvPr>
        </p:nvSpPr>
        <p:spPr>
          <a:xfrm>
            <a:off x="548640" y="566928"/>
            <a:ext cx="11064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lang="en-US"/>
              <a:t>Burndown Chart</a:t>
            </a:r>
            <a:endParaRPr sz="3400"/>
          </a:p>
        </p:txBody>
      </p:sp>
      <p:sp>
        <p:nvSpPr>
          <p:cNvPr id="565" name="Google Shape;565;h4cf320f8c930a449_1_75"/>
          <p:cNvSpPr txBox="1"/>
          <p:nvPr>
            <p:ph idx="4294967295" type="sldNum"/>
          </p:nvPr>
        </p:nvSpPr>
        <p:spPr>
          <a:xfrm>
            <a:off x="11155680" y="6400800"/>
            <a:ext cx="50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6" name="Google Shape;566;h4cf320f8c930a449_1_75" title="Chart"/>
          <p:cNvPicPr preferRelativeResize="0"/>
          <p:nvPr/>
        </p:nvPicPr>
        <p:blipFill rotWithShape="1">
          <a:blip r:embed="rId3">
            <a:alphaModFix/>
          </a:blip>
          <a:srcRect b="3904" l="1244" r="0" t="11949"/>
          <a:stretch/>
        </p:blipFill>
        <p:spPr>
          <a:xfrm>
            <a:off x="1820400" y="1298325"/>
            <a:ext cx="8551200" cy="4505100"/>
          </a:xfrm>
          <a:prstGeom prst="roundRect">
            <a:avLst>
              <a:gd fmla="val 5050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2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10.2 · TABLERO KANBAN</a:t>
            </a:r>
            <a:endParaRPr sz="1200"/>
          </a:p>
        </p:txBody>
      </p:sp>
      <p:sp>
        <p:nvSpPr>
          <p:cNvPr id="573" name="Google Shape;573;p22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Kanban</a:t>
            </a:r>
            <a:endParaRPr sz="3400"/>
          </a:p>
        </p:txBody>
      </p:sp>
      <p:sp>
        <p:nvSpPr>
          <p:cNvPr id="574" name="Google Shape;574;p22"/>
          <p:cNvSpPr/>
          <p:nvPr/>
        </p:nvSpPr>
        <p:spPr>
          <a:xfrm>
            <a:off x="548640" y="1463040"/>
            <a:ext cx="3520440" cy="4709160"/>
          </a:xfrm>
          <a:prstGeom prst="roundRect">
            <a:avLst>
              <a:gd fmla="val 311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2"/>
          <p:cNvSpPr/>
          <p:nvPr/>
        </p:nvSpPr>
        <p:spPr>
          <a:xfrm>
            <a:off x="777240" y="1645920"/>
            <a:ext cx="164592" cy="164592"/>
          </a:xfrm>
          <a:prstGeom prst="ellipse">
            <a:avLst/>
          </a:prstGeom>
          <a:solidFill>
            <a:srgbClr val="B9B7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2"/>
          <p:cNvSpPr txBox="1"/>
          <p:nvPr/>
        </p:nvSpPr>
        <p:spPr>
          <a:xfrm>
            <a:off x="1051560" y="15544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hacer</a:t>
            </a: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· 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2"/>
          <p:cNvSpPr/>
          <p:nvPr/>
        </p:nvSpPr>
        <p:spPr>
          <a:xfrm>
            <a:off x="731520" y="2011680"/>
            <a:ext cx="3154680" cy="566928"/>
          </a:xfrm>
          <a:prstGeom prst="roundRect">
            <a:avLst>
              <a:gd fmla="val 9677" name="adj"/>
            </a:avLst>
          </a:prstGeom>
          <a:solidFill>
            <a:schemeClr val="lt1"/>
          </a:solidFill>
          <a:ln cap="flat" cmpd="sng" w="15875">
            <a:solidFill>
              <a:srgbClr val="B9B7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2"/>
          <p:cNvSpPr txBox="1"/>
          <p:nvPr/>
        </p:nvSpPr>
        <p:spPr>
          <a:xfrm>
            <a:off x="868680" y="201168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Reunión de avance y validación con el cliente (Sprint 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2"/>
          <p:cNvSpPr/>
          <p:nvPr/>
        </p:nvSpPr>
        <p:spPr>
          <a:xfrm>
            <a:off x="731520" y="2715768"/>
            <a:ext cx="3154680" cy="566928"/>
          </a:xfrm>
          <a:prstGeom prst="roundRect">
            <a:avLst>
              <a:gd fmla="val 9677" name="adj"/>
            </a:avLst>
          </a:prstGeom>
          <a:solidFill>
            <a:schemeClr val="lt1"/>
          </a:solidFill>
          <a:ln cap="flat" cmpd="sng" w="15875">
            <a:solidFill>
              <a:srgbClr val="B9B7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2"/>
          <p:cNvSpPr txBox="1"/>
          <p:nvPr/>
        </p:nvSpPr>
        <p:spPr>
          <a:xfrm>
            <a:off x="868680" y="271576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de integración del Sprint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2"/>
          <p:cNvSpPr/>
          <p:nvPr/>
        </p:nvSpPr>
        <p:spPr>
          <a:xfrm>
            <a:off x="4334256" y="1463040"/>
            <a:ext cx="3520440" cy="4709160"/>
          </a:xfrm>
          <a:prstGeom prst="roundRect">
            <a:avLst>
              <a:gd fmla="val 311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2"/>
          <p:cNvSpPr/>
          <p:nvPr/>
        </p:nvSpPr>
        <p:spPr>
          <a:xfrm>
            <a:off x="4562856" y="1645920"/>
            <a:ext cx="164592" cy="164592"/>
          </a:xfrm>
          <a:prstGeom prst="ellipse">
            <a:avLst/>
          </a:prstGeom>
          <a:solidFill>
            <a:srgbClr val="F3A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2"/>
          <p:cNvSpPr txBox="1"/>
          <p:nvPr/>
        </p:nvSpPr>
        <p:spPr>
          <a:xfrm>
            <a:off x="4837176" y="15544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Haciendo</a:t>
            </a: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· 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2"/>
          <p:cNvSpPr/>
          <p:nvPr/>
        </p:nvSpPr>
        <p:spPr>
          <a:xfrm>
            <a:off x="4517136" y="2011680"/>
            <a:ext cx="3154680" cy="566928"/>
          </a:xfrm>
          <a:prstGeom prst="roundRect">
            <a:avLst>
              <a:gd fmla="val 9677" name="adj"/>
            </a:avLst>
          </a:prstGeom>
          <a:solidFill>
            <a:schemeClr val="lt1"/>
          </a:solidFill>
          <a:ln cap="flat" cmpd="sng" w="15875">
            <a:solidFill>
              <a:srgbClr val="F3A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2"/>
          <p:cNvSpPr txBox="1"/>
          <p:nvPr/>
        </p:nvSpPr>
        <p:spPr>
          <a:xfrm>
            <a:off x="4654296" y="201168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de la funcionalidad de registro de pedidos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2"/>
          <p:cNvSpPr/>
          <p:nvPr/>
        </p:nvSpPr>
        <p:spPr>
          <a:xfrm>
            <a:off x="4517136" y="2715768"/>
            <a:ext cx="3154680" cy="566928"/>
          </a:xfrm>
          <a:prstGeom prst="roundRect">
            <a:avLst>
              <a:gd fmla="val 9677" name="adj"/>
            </a:avLst>
          </a:prstGeom>
          <a:solidFill>
            <a:schemeClr val="lt1"/>
          </a:solidFill>
          <a:ln cap="flat" cmpd="sng" w="15875">
            <a:solidFill>
              <a:srgbClr val="F3A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2"/>
          <p:cNvSpPr txBox="1"/>
          <p:nvPr/>
        </p:nvSpPr>
        <p:spPr>
          <a:xfrm>
            <a:off x="4654296" y="271576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y asignación de labores por trabajador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2"/>
          <p:cNvSpPr/>
          <p:nvPr/>
        </p:nvSpPr>
        <p:spPr>
          <a:xfrm>
            <a:off x="4517136" y="3419856"/>
            <a:ext cx="3154680" cy="566928"/>
          </a:xfrm>
          <a:prstGeom prst="roundRect">
            <a:avLst>
              <a:gd fmla="val 9677" name="adj"/>
            </a:avLst>
          </a:prstGeom>
          <a:solidFill>
            <a:schemeClr val="lt1"/>
          </a:solidFill>
          <a:ln cap="flat" cmpd="sng" w="15875">
            <a:solidFill>
              <a:srgbClr val="F3A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2"/>
          <p:cNvSpPr txBox="1"/>
          <p:nvPr/>
        </p:nvSpPr>
        <p:spPr>
          <a:xfrm>
            <a:off x="4654296" y="341985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Trazabilidad de operario por prenda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2"/>
          <p:cNvSpPr/>
          <p:nvPr/>
        </p:nvSpPr>
        <p:spPr>
          <a:xfrm>
            <a:off x="4517136" y="4123944"/>
            <a:ext cx="3154680" cy="566928"/>
          </a:xfrm>
          <a:prstGeom prst="roundRect">
            <a:avLst>
              <a:gd fmla="val 9677" name="adj"/>
            </a:avLst>
          </a:prstGeom>
          <a:solidFill>
            <a:schemeClr val="lt1"/>
          </a:solidFill>
          <a:ln cap="flat" cmpd="sng" w="15875">
            <a:solidFill>
              <a:srgbClr val="F3A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2"/>
          <p:cNvSpPr txBox="1"/>
          <p:nvPr/>
        </p:nvSpPr>
        <p:spPr>
          <a:xfrm>
            <a:off x="4654296" y="4123944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Trazabilidad de cortadora por prenda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2"/>
          <p:cNvSpPr/>
          <p:nvPr/>
        </p:nvSpPr>
        <p:spPr>
          <a:xfrm>
            <a:off x="8119872" y="1463040"/>
            <a:ext cx="3520440" cy="4709160"/>
          </a:xfrm>
          <a:prstGeom prst="roundRect">
            <a:avLst>
              <a:gd fmla="val 311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2"/>
          <p:cNvSpPr/>
          <p:nvPr/>
        </p:nvSpPr>
        <p:spPr>
          <a:xfrm>
            <a:off x="8348472" y="1645920"/>
            <a:ext cx="164592" cy="164592"/>
          </a:xfrm>
          <a:prstGeom prst="ellipse">
            <a:avLst/>
          </a:prstGeom>
          <a:solidFill>
            <a:srgbClr val="29A1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8622792" y="15544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Hecho</a:t>
            </a: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·  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2"/>
          <p:cNvSpPr/>
          <p:nvPr/>
        </p:nvSpPr>
        <p:spPr>
          <a:xfrm>
            <a:off x="8302752" y="2011680"/>
            <a:ext cx="3154680" cy="402336"/>
          </a:xfrm>
          <a:prstGeom prst="roundRect">
            <a:avLst>
              <a:gd fmla="val 1363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2"/>
          <p:cNvSpPr txBox="1"/>
          <p:nvPr/>
        </p:nvSpPr>
        <p:spPr>
          <a:xfrm>
            <a:off x="8439912" y="201168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 de gestión de clientes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2"/>
          <p:cNvSpPr/>
          <p:nvPr/>
        </p:nvSpPr>
        <p:spPr>
          <a:xfrm>
            <a:off x="8302752" y="2523744"/>
            <a:ext cx="3154680" cy="402336"/>
          </a:xfrm>
          <a:prstGeom prst="roundRect">
            <a:avLst>
              <a:gd fmla="val 1363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2"/>
          <p:cNvSpPr txBox="1"/>
          <p:nvPr/>
        </p:nvSpPr>
        <p:spPr>
          <a:xfrm>
            <a:off x="8439912" y="2523744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Lógica de gestión de clientes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2"/>
          <p:cNvSpPr/>
          <p:nvPr/>
        </p:nvSpPr>
        <p:spPr>
          <a:xfrm>
            <a:off x="8302752" y="3035808"/>
            <a:ext cx="3154680" cy="402336"/>
          </a:xfrm>
          <a:prstGeom prst="roundRect">
            <a:avLst>
              <a:gd fmla="val 1363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2"/>
          <p:cNvSpPr txBox="1"/>
          <p:nvPr/>
        </p:nvSpPr>
        <p:spPr>
          <a:xfrm>
            <a:off x="8439912" y="3035808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 de clientes y ordenamiento por frecuencia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2"/>
          <p:cNvSpPr/>
          <p:nvPr/>
        </p:nvSpPr>
        <p:spPr>
          <a:xfrm>
            <a:off x="8302752" y="3547872"/>
            <a:ext cx="3154680" cy="402336"/>
          </a:xfrm>
          <a:prstGeom prst="roundRect">
            <a:avLst>
              <a:gd fmla="val 1363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2"/>
          <p:cNvSpPr txBox="1"/>
          <p:nvPr/>
        </p:nvSpPr>
        <p:spPr>
          <a:xfrm>
            <a:off x="8439912" y="3547872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 de control de tareas en el taller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2"/>
          <p:cNvSpPr/>
          <p:nvPr/>
        </p:nvSpPr>
        <p:spPr>
          <a:xfrm>
            <a:off x="8302752" y="4059936"/>
            <a:ext cx="3154680" cy="402336"/>
          </a:xfrm>
          <a:prstGeom prst="roundRect">
            <a:avLst>
              <a:gd fmla="val 1363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2"/>
          <p:cNvSpPr txBox="1"/>
          <p:nvPr/>
        </p:nvSpPr>
        <p:spPr>
          <a:xfrm>
            <a:off x="8439912" y="4059936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Lógica de control de tareas en el taller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2"/>
          <p:cNvSpPr/>
          <p:nvPr/>
        </p:nvSpPr>
        <p:spPr>
          <a:xfrm>
            <a:off x="8302752" y="4572000"/>
            <a:ext cx="3154680" cy="402336"/>
          </a:xfrm>
          <a:prstGeom prst="roundRect">
            <a:avLst>
              <a:gd fmla="val 1363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2"/>
          <p:cNvSpPr txBox="1"/>
          <p:nvPr/>
        </p:nvSpPr>
        <p:spPr>
          <a:xfrm>
            <a:off x="8439912" y="45720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de tareas y cambio de estados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2"/>
          <p:cNvSpPr/>
          <p:nvPr/>
        </p:nvSpPr>
        <p:spPr>
          <a:xfrm>
            <a:off x="8302752" y="5084064"/>
            <a:ext cx="3154680" cy="402336"/>
          </a:xfrm>
          <a:prstGeom prst="roundRect">
            <a:avLst>
              <a:gd fmla="val 1363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2"/>
          <p:cNvSpPr txBox="1"/>
          <p:nvPr/>
        </p:nvSpPr>
        <p:spPr>
          <a:xfrm>
            <a:off x="8439912" y="5084064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Asignación de tareas por trabajador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2"/>
          <p:cNvSpPr/>
          <p:nvPr/>
        </p:nvSpPr>
        <p:spPr>
          <a:xfrm>
            <a:off x="8302752" y="5596128"/>
            <a:ext cx="3154680" cy="402336"/>
          </a:xfrm>
          <a:prstGeom prst="roundRect">
            <a:avLst>
              <a:gd fmla="val 13636" name="adj"/>
            </a:avLst>
          </a:prstGeom>
          <a:solidFill>
            <a:schemeClr val="lt1"/>
          </a:solidFill>
          <a:ln cap="flat" cmpd="sng" w="15875">
            <a:solidFill>
              <a:srgbClr val="29A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2"/>
          <p:cNvSpPr txBox="1"/>
          <p:nvPr/>
        </p:nvSpPr>
        <p:spPr>
          <a:xfrm>
            <a:off x="8439912" y="5596128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de mapa interactivo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2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h4cf320f8c930a449_1_226"/>
          <p:cNvSpPr txBox="1"/>
          <p:nvPr>
            <p:ph idx="1" type="body"/>
          </p:nvPr>
        </p:nvSpPr>
        <p:spPr>
          <a:xfrm>
            <a:off x="548640" y="32004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10.</a:t>
            </a:r>
            <a:r>
              <a:rPr lang="en-US"/>
              <a:t>2</a:t>
            </a:r>
            <a:r>
              <a:rPr b="1" lang="en-US" sz="1200">
                <a:solidFill>
                  <a:schemeClr val="accent1"/>
                </a:solidFill>
              </a:rPr>
              <a:t> · </a:t>
            </a:r>
            <a:r>
              <a:rPr lang="en-US"/>
              <a:t>SPRINT BACKLOG</a:t>
            </a:r>
            <a:endParaRPr sz="1200"/>
          </a:p>
        </p:txBody>
      </p:sp>
      <p:sp>
        <p:nvSpPr>
          <p:cNvPr id="618" name="Google Shape;618;h4cf320f8c930a449_1_226"/>
          <p:cNvSpPr txBox="1"/>
          <p:nvPr>
            <p:ph type="title"/>
          </p:nvPr>
        </p:nvSpPr>
        <p:spPr>
          <a:xfrm>
            <a:off x="548640" y="566928"/>
            <a:ext cx="11064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lang="en-US"/>
              <a:t>Sprint</a:t>
            </a: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Backl</a:t>
            </a:r>
            <a:r>
              <a:rPr lang="en-US"/>
              <a:t>og</a:t>
            </a:r>
            <a:endParaRPr sz="3400"/>
          </a:p>
        </p:txBody>
      </p:sp>
      <p:graphicFrame>
        <p:nvGraphicFramePr>
          <p:cNvPr id="619" name="Google Shape;619;h4cf320f8c930a449_1_226"/>
          <p:cNvGraphicFramePr/>
          <p:nvPr/>
        </p:nvGraphicFramePr>
        <p:xfrm>
          <a:off x="548640" y="144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{92D7990F-C0F9-4EB0-9FD0-6997CF298960}</a:tableStyleId>
              </a:tblPr>
              <a:tblGrid>
                <a:gridCol w="10152100"/>
                <a:gridCol w="9122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 de usuario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Puntos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3B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H-18 - Como Jefa de taller, quiero tener la información de mis clientes para comunicarme con ellos si ocurre </a:t>
                      </a:r>
                      <a:r>
                        <a:rPr lang="en-US" sz="1300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algún</a:t>
                      </a:r>
                      <a:r>
                        <a:rPr lang="en-US" sz="1300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imprevisto</a:t>
                      </a:r>
                      <a:r>
                        <a:rPr lang="en-US" sz="1300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durante la confección de su pedido.</a:t>
                      </a:r>
                      <a:endParaRPr sz="1300">
                        <a:solidFill>
                          <a:srgbClr val="22223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H-2 - Como Jefa de taller quiero cambiar el estado de las tareas (pendiente, en proceso, finalizada) para llevar un control visual del avance.</a:t>
                      </a:r>
                      <a:endParaRPr sz="1300">
                        <a:solidFill>
                          <a:srgbClr val="22223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2222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H-3 - Como Jefa de taller quiero adjuntar notas o instrucciones específicas a cada tarea asignada para evitar errores en la ejecución del trabajo.</a:t>
                      </a:r>
                      <a:endParaRPr sz="1300">
                        <a:solidFill>
                          <a:srgbClr val="22223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H-10 - Como Jefa de taller, quiero poder registrar las tareas realizadas por cada trabajador, para mantener un control de las labores efectuadas.</a:t>
                      </a:r>
                      <a:endParaRPr sz="1300">
                        <a:solidFill>
                          <a:srgbClr val="22223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H-12 - Visualización de tareas por trabajador y seguimiento de trabajos finalizados.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H-11 - 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Como Jefa de taller, quiero poder visualizar las tareas realizadas por cada trabajador, para conocer las actividades que ha completado cada uno.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8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11 · CRONOGRAMA</a:t>
            </a:r>
            <a:endParaRPr sz="1200"/>
          </a:p>
        </p:txBody>
      </p:sp>
      <p:sp>
        <p:nvSpPr>
          <p:cNvPr id="626" name="Google Shape;626;p28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Cronograma</a:t>
            </a:r>
            <a:endParaRPr sz="3400"/>
          </a:p>
        </p:txBody>
      </p:sp>
      <p:sp>
        <p:nvSpPr>
          <p:cNvPr id="627" name="Google Shape;627;p28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8" name="Google Shape;628;p28"/>
          <p:cNvPicPr preferRelativeResize="0"/>
          <p:nvPr/>
        </p:nvPicPr>
        <p:blipFill rotWithShape="1">
          <a:blip r:embed="rId3">
            <a:alphaModFix/>
          </a:blip>
          <a:srcRect b="8383" l="0" r="0" t="0"/>
          <a:stretch/>
        </p:blipFill>
        <p:spPr>
          <a:xfrm>
            <a:off x="301538" y="1298450"/>
            <a:ext cx="11558453" cy="51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9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</a:pPr>
            <a:r>
              <a:rPr b="1" lang="en-US" sz="1200">
                <a:solidFill>
                  <a:schemeClr val="accent2"/>
                </a:solidFill>
              </a:rPr>
              <a:t>12 · DEMOSTRACIÓN</a:t>
            </a:r>
            <a:endParaRPr sz="1200"/>
          </a:p>
        </p:txBody>
      </p:sp>
      <p:sp>
        <p:nvSpPr>
          <p:cNvPr id="635" name="Google Shape;635;p29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lang="en-US" sz="3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Demo</a:t>
            </a:r>
            <a:r>
              <a:rPr b="1" lang="en-US" sz="3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plataforma de gestión</a:t>
            </a:r>
            <a:endParaRPr sz="3400"/>
          </a:p>
        </p:txBody>
      </p:sp>
      <p:pic>
        <p:nvPicPr>
          <p:cNvPr descr="Captura de la plataforma web" id="636" name="Google Shape;63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4868" y="1554480"/>
            <a:ext cx="7691783" cy="461772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29">
            <a:hlinkClick r:id="rId5"/>
          </p:cNvPr>
          <p:cNvSpPr/>
          <p:nvPr/>
        </p:nvSpPr>
        <p:spPr>
          <a:xfrm>
            <a:off x="2161716" y="1481328"/>
            <a:ext cx="7838087" cy="4764024"/>
          </a:xfrm>
          <a:prstGeom prst="roundRect">
            <a:avLst>
              <a:gd fmla="val 1536" name="adj"/>
            </a:avLst>
          </a:prstGeom>
          <a:noFill/>
          <a:ln cap="flat" cmpd="sng" w="25400">
            <a:solidFill>
              <a:srgbClr val="F3A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9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B8B8CC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B8B8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0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13 · CONCLUSIONES Y PRÓXIMOS PASOS</a:t>
            </a:r>
            <a:endParaRPr sz="1200"/>
          </a:p>
        </p:txBody>
      </p:sp>
      <p:sp>
        <p:nvSpPr>
          <p:cNvPr id="645" name="Google Shape;645;p30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Continuamos con el Sprint 2</a:t>
            </a:r>
            <a:endParaRPr sz="3400"/>
          </a:p>
        </p:txBody>
      </p:sp>
      <p:cxnSp>
        <p:nvCxnSpPr>
          <p:cNvPr id="646" name="Google Shape;646;p30"/>
          <p:cNvCxnSpPr/>
          <p:nvPr/>
        </p:nvCxnSpPr>
        <p:spPr>
          <a:xfrm>
            <a:off x="914400" y="3237036"/>
            <a:ext cx="0" cy="384000"/>
          </a:xfrm>
          <a:prstGeom prst="straightConnector1">
            <a:avLst/>
          </a:prstGeom>
          <a:noFill/>
          <a:ln cap="flat" cmpd="sng" w="25400">
            <a:solidFill>
              <a:srgbClr val="D9D7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7" name="Google Shape;647;p30"/>
          <p:cNvSpPr/>
          <p:nvPr/>
        </p:nvSpPr>
        <p:spPr>
          <a:xfrm>
            <a:off x="548640" y="2505516"/>
            <a:ext cx="731400" cy="73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razabilidad de operaria por prenda" id="648" name="Google Shape;64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6883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0"/>
          <p:cNvSpPr txBox="1"/>
          <p:nvPr/>
        </p:nvSpPr>
        <p:spPr>
          <a:xfrm>
            <a:off x="1554480" y="2523804"/>
            <a:ext cx="5669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Trazabilidad de operaria por prenda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0"/>
          <p:cNvSpPr txBox="1"/>
          <p:nvPr/>
        </p:nvSpPr>
        <p:spPr>
          <a:xfrm>
            <a:off x="1554480" y="2889564"/>
            <a:ext cx="5669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Quién confeccionó cada prenda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0"/>
          <p:cNvSpPr/>
          <p:nvPr/>
        </p:nvSpPr>
        <p:spPr>
          <a:xfrm>
            <a:off x="548640" y="3621084"/>
            <a:ext cx="731400" cy="73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razabilidad de cortadora por prenda" id="652" name="Google Shape;65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380396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30"/>
          <p:cNvSpPr txBox="1"/>
          <p:nvPr/>
        </p:nvSpPr>
        <p:spPr>
          <a:xfrm>
            <a:off x="1554480" y="3639372"/>
            <a:ext cx="5669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Trazabilidad de cortadora por prenda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0"/>
          <p:cNvSpPr txBox="1"/>
          <p:nvPr/>
        </p:nvSpPr>
        <p:spPr>
          <a:xfrm>
            <a:off x="1554480" y="4005132"/>
            <a:ext cx="5669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Quién cortó cada prenda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aller" id="655" name="Google Shape;65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8120" y="1600200"/>
            <a:ext cx="384048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30"/>
          <p:cNvSpPr/>
          <p:nvPr/>
        </p:nvSpPr>
        <p:spPr>
          <a:xfrm>
            <a:off x="10378440" y="4892040"/>
            <a:ext cx="1463040" cy="146304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270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" id="657" name="Google Shape;65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0" y="502920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0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1"/>
          <p:cNvSpPr txBox="1"/>
          <p:nvPr>
            <p:ph idx="1" type="body"/>
          </p:nvPr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</a:pPr>
            <a:r>
              <a:rPr b="1" lang="en-US" sz="1200">
                <a:solidFill>
                  <a:schemeClr val="accent2"/>
                </a:solidFill>
              </a:rPr>
              <a:t>14 · REFLEXIÓN FINAL</a:t>
            </a:r>
            <a:endParaRPr sz="1200"/>
          </a:p>
        </p:txBody>
      </p:sp>
      <p:sp>
        <p:nvSpPr>
          <p:cNvPr id="665" name="Google Shape;665;p31"/>
          <p:cNvSpPr txBox="1"/>
          <p:nvPr>
            <p:ph type="title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lang="en-US" sz="3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 que nos llevamos</a:t>
            </a:r>
            <a:endParaRPr sz="3400"/>
          </a:p>
        </p:txBody>
      </p:sp>
      <p:sp>
        <p:nvSpPr>
          <p:cNvPr id="666" name="Google Shape;666;p31"/>
          <p:cNvSpPr/>
          <p:nvPr/>
        </p:nvSpPr>
        <p:spPr>
          <a:xfrm>
            <a:off x="548640" y="1691640"/>
            <a:ext cx="3520440" cy="4297680"/>
          </a:xfrm>
          <a:prstGeom prst="roundRect">
            <a:avLst>
              <a:gd fmla="val 3117" name="adj"/>
            </a:avLst>
          </a:prstGeom>
          <a:solidFill>
            <a:srgbClr val="2F2F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ita" id="667" name="Google Shape;66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574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31"/>
          <p:cNvSpPr txBox="1"/>
          <p:nvPr/>
        </p:nvSpPr>
        <p:spPr>
          <a:xfrm>
            <a:off x="914400" y="2880360"/>
            <a:ext cx="2788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b="0" i="1" lang="en-US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Organizar y definir metas específicas…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1"/>
          <p:cNvSpPr txBox="1"/>
          <p:nvPr/>
        </p:nvSpPr>
        <p:spPr>
          <a:xfrm>
            <a:off x="914400" y="507492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— Smolenks Aravena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1"/>
          <p:cNvSpPr/>
          <p:nvPr/>
        </p:nvSpPr>
        <p:spPr>
          <a:xfrm>
            <a:off x="4325112" y="1691640"/>
            <a:ext cx="3520440" cy="4297680"/>
          </a:xfrm>
          <a:prstGeom prst="roundRect">
            <a:avLst>
              <a:gd fmla="val 3117" name="adj"/>
            </a:avLst>
          </a:prstGeom>
          <a:solidFill>
            <a:srgbClr val="2F2F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ita" id="671" name="Google Shape;67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0872" y="20574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31"/>
          <p:cNvSpPr txBox="1"/>
          <p:nvPr/>
        </p:nvSpPr>
        <p:spPr>
          <a:xfrm>
            <a:off x="4690872" y="2880360"/>
            <a:ext cx="2788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b="0" i="1" lang="en-US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importancia de ponerse en el lugar del cliente…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1"/>
          <p:cNvSpPr txBox="1"/>
          <p:nvPr/>
        </p:nvSpPr>
        <p:spPr>
          <a:xfrm>
            <a:off x="4690872" y="507492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— Matías González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1"/>
          <p:cNvSpPr/>
          <p:nvPr/>
        </p:nvSpPr>
        <p:spPr>
          <a:xfrm>
            <a:off x="8101584" y="1691640"/>
            <a:ext cx="3520440" cy="4297680"/>
          </a:xfrm>
          <a:prstGeom prst="roundRect">
            <a:avLst>
              <a:gd fmla="val 3117" name="adj"/>
            </a:avLst>
          </a:prstGeom>
          <a:solidFill>
            <a:srgbClr val="2F2F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ita" id="675" name="Google Shape;67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7344" y="20574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31"/>
          <p:cNvSpPr txBox="1"/>
          <p:nvPr/>
        </p:nvSpPr>
        <p:spPr>
          <a:xfrm>
            <a:off x="8467344" y="2880360"/>
            <a:ext cx="2788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b="0" i="1" lang="en-US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Aplicar todos los conocimientos adquiridos durante la carrera…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1"/>
          <p:cNvSpPr txBox="1"/>
          <p:nvPr/>
        </p:nvSpPr>
        <p:spPr>
          <a:xfrm>
            <a:off x="8467344" y="507492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— Jean Leyton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1"/>
          <p:cNvSpPr txBox="1"/>
          <p:nvPr>
            <p:ph idx="4294967295" type="sldNum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B8B8CC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B8B8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ller" id="684" name="Google Shape;68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57908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32"/>
          <p:cNvSpPr txBox="1"/>
          <p:nvPr/>
        </p:nvSpPr>
        <p:spPr>
          <a:xfrm>
            <a:off x="548640" y="2560320"/>
            <a:ext cx="5669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lt1"/>
                </a:solidFill>
              </a:rPr>
              <a:t>Conclusión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2"/>
          <p:cNvSpPr txBox="1"/>
          <p:nvPr/>
        </p:nvSpPr>
        <p:spPr>
          <a:xfrm>
            <a:off x="548640" y="384048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6E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D7D6E4"/>
                </a:solidFill>
                <a:latin typeface="Calibri"/>
                <a:ea typeface="Calibri"/>
                <a:cs typeface="Calibri"/>
                <a:sym typeface="Calibri"/>
              </a:rPr>
              <a:t>Smolenks Aravena  ·  Matías González  ·  Jean Leyton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2"/>
          <p:cNvSpPr/>
          <p:nvPr/>
        </p:nvSpPr>
        <p:spPr>
          <a:xfrm>
            <a:off x="548640" y="4572000"/>
            <a:ext cx="1188720" cy="118872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" id="688" name="Google Shape;68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4681728"/>
            <a:ext cx="969264" cy="96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l y Una Ideas">
  <a:themeElements>
    <a:clrScheme name="Mil y Una Ideas">
      <a:dk1>
        <a:srgbClr val="22223B"/>
      </a:dk1>
      <a:lt1>
        <a:srgbClr val="FFFFFF"/>
      </a:lt1>
      <a:dk2>
        <a:srgbClr val="55596F"/>
      </a:dk2>
      <a:lt2>
        <a:srgbClr val="F3F2F7"/>
      </a:lt2>
      <a:accent1>
        <a:srgbClr val="E4572E"/>
      </a:accent1>
      <a:accent2>
        <a:srgbClr val="F3A712"/>
      </a:accent2>
      <a:accent3>
        <a:srgbClr val="29A19C"/>
      </a:accent3>
      <a:accent4>
        <a:srgbClr val="6D5BD0"/>
      </a:accent4>
      <a:accent5>
        <a:srgbClr val="9A8C98"/>
      </a:accent5>
      <a:accent6>
        <a:srgbClr val="C9ADA7"/>
      </a:accent6>
      <a:hlink>
        <a:srgbClr val="29A19C"/>
      </a:hlink>
      <a:folHlink>
        <a:srgbClr val="6D5B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l y Una Ideas">
  <a:themeElements>
    <a:clrScheme name="Mil y Una Ideas">
      <a:dk1>
        <a:srgbClr val="22223B"/>
      </a:dk1>
      <a:lt1>
        <a:srgbClr val="FFFFFF"/>
      </a:lt1>
      <a:dk2>
        <a:srgbClr val="55596F"/>
      </a:dk2>
      <a:lt2>
        <a:srgbClr val="F3F2F7"/>
      </a:lt2>
      <a:accent1>
        <a:srgbClr val="E4572E"/>
      </a:accent1>
      <a:accent2>
        <a:srgbClr val="F3A712"/>
      </a:accent2>
      <a:accent3>
        <a:srgbClr val="29A19C"/>
      </a:accent3>
      <a:accent4>
        <a:srgbClr val="6D5BD0"/>
      </a:accent4>
      <a:accent5>
        <a:srgbClr val="9A8C98"/>
      </a:accent5>
      <a:accent6>
        <a:srgbClr val="C9ADA7"/>
      </a:accent6>
      <a:hlink>
        <a:srgbClr val="29A19C"/>
      </a:hlink>
      <a:folHlink>
        <a:srgbClr val="6D5B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2026-10-11T14:49:01Z</dcterms:created>
  <dc:creator>Smolenks Aravena, Matías González, Jean Leyton</dc:creator>
</cp:coreProperties>
</file>