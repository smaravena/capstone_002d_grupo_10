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10287000" cx="18288000"/>
  <p:notesSz cx="6858000" cy="9144000"/>
  <p:embeddedFontLst>
    <p:embeddedFont>
      <p:font typeface="Raleway"/>
      <p:regular r:id="rId36"/>
      <p:bold r:id="rId37"/>
      <p:italic r:id="rId38"/>
      <p:boldItalic r:id="rId39"/>
    </p:embeddedFont>
    <p:embeddedFont>
      <p:font typeface="Fredoka"/>
      <p:regular r:id="rId40"/>
      <p:bold r:id="rId41"/>
    </p:embeddedFont>
    <p:embeddedFont>
      <p:font typeface="Lato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6" roundtripDataSignature="AMtx7mjAnAOMvAPd3hVpltitdwSKU6/i9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CA865E-F427-4DBF-9899-1797EF6F0879}">
  <a:tblStyle styleId="{97CA865E-F427-4DBF-9899-1797EF6F087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Fredoka-regular.fntdata"/><Relationship Id="rId20" Type="http://schemas.openxmlformats.org/officeDocument/2006/relationships/slide" Target="slides/slide14.xml"/><Relationship Id="rId42" Type="http://schemas.openxmlformats.org/officeDocument/2006/relationships/font" Target="fonts/Lato-regular.fntdata"/><Relationship Id="rId41" Type="http://schemas.openxmlformats.org/officeDocument/2006/relationships/font" Target="fonts/Fredoka-bold.fntdata"/><Relationship Id="rId22" Type="http://schemas.openxmlformats.org/officeDocument/2006/relationships/slide" Target="slides/slide16.xml"/><Relationship Id="rId44" Type="http://schemas.openxmlformats.org/officeDocument/2006/relationships/font" Target="fonts/Lato-italic.fntdata"/><Relationship Id="rId21" Type="http://schemas.openxmlformats.org/officeDocument/2006/relationships/slide" Target="slides/slide15.xml"/><Relationship Id="rId43" Type="http://schemas.openxmlformats.org/officeDocument/2006/relationships/font" Target="fonts/Lato-bold.fntdata"/><Relationship Id="rId24" Type="http://schemas.openxmlformats.org/officeDocument/2006/relationships/slide" Target="slides/slide18.xml"/><Relationship Id="rId46" Type="http://customschemas.google.com/relationships/presentationmetadata" Target="metadata"/><Relationship Id="rId23" Type="http://schemas.openxmlformats.org/officeDocument/2006/relationships/slide" Target="slides/slide17.xml"/><Relationship Id="rId45" Type="http://schemas.openxmlformats.org/officeDocument/2006/relationships/font" Target="fonts/Lato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font" Target="fonts/Raleway-bold.fntdata"/><Relationship Id="rId14" Type="http://schemas.openxmlformats.org/officeDocument/2006/relationships/slide" Target="slides/slide8.xml"/><Relationship Id="rId36" Type="http://schemas.openxmlformats.org/officeDocument/2006/relationships/font" Target="fonts/Raleway-regular.fntdata"/><Relationship Id="rId17" Type="http://schemas.openxmlformats.org/officeDocument/2006/relationships/slide" Target="slides/slide11.xml"/><Relationship Id="rId39" Type="http://schemas.openxmlformats.org/officeDocument/2006/relationships/font" Target="fonts/Raleway-boldItalic.fntdata"/><Relationship Id="rId16" Type="http://schemas.openxmlformats.org/officeDocument/2006/relationships/slide" Target="slides/slide10.xml"/><Relationship Id="rId38" Type="http://schemas.openxmlformats.org/officeDocument/2006/relationships/font" Target="fonts/Raleway-italic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8aea27e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3" name="Google Shape;93;g3f8aea27ec5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8addd409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1" name="Google Shape;101;g3f8addd409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8addd4091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g3f8addd4091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f8aea27ec5_3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" name="Google Shape;163;g3f8aea27ec5_3_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" name="Google Shape;17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h25087c69b7368f0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6" name="Google Shape;186;h25087c69b7368f0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f8addd4091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g3f8addd4091_0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h25087c69b7368f04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6" name="Google Shape;246;h25087c69b7368f04_1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h502025bf553c5436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h502025bf553c5436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5087c69b7368f04_1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h25087c69b7368f04_1_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25087c69b7368f04_1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8" name="Google Shape;268;h25087c69b7368f04_1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25087c69b7368f04_1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6" name="Google Shape;276;h25087c69b7368f04_1_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h25087c69b7368f04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3" name="Google Shape;283;h25087c69b7368f04_1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h25087c69b7368f04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0" name="Google Shape;290;h25087c69b7368f04_1_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h25087c69b7368f04_1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7" name="Google Shape;297;h25087c69b7368f04_1_9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h25087c69b7368f04_1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4" name="Google Shape;304;h25087c69b7368f04_1_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h25087c69b7368f04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1" name="Google Shape;311;h25087c69b7368f04_1_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h25087c69b7368f04_1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h25087c69b7368f04_1_5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h25087c69b7368f04_1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6" name="Google Shape;326;h25087c69b7368f04_1_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h502025bf553c543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4" name="Google Shape;334;h502025bf553c5436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f8addd4091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3" name="Google Shape;343;g3f8addd4091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f8aea27ec5_2_814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8aea27ec5_2_743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" name="Google Shape;13;g3f8aea27ec5_2_743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14" name="Google Shape;14;g3f8aea27ec5_2_74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g3f8aea27ec5_2_74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" name="Google Shape;16;g3f8aea27ec5_2_743"/>
          <p:cNvSpPr txBox="1"/>
          <p:nvPr>
            <p:ph type="ctrTitle"/>
          </p:nvPr>
        </p:nvSpPr>
        <p:spPr>
          <a:xfrm>
            <a:off x="1458900" y="2644900"/>
            <a:ext cx="15376200" cy="3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17" name="Google Shape;17;g3f8aea27ec5_2_743"/>
          <p:cNvSpPr txBox="1"/>
          <p:nvPr>
            <p:ph idx="1" type="subTitle"/>
          </p:nvPr>
        </p:nvSpPr>
        <p:spPr>
          <a:xfrm>
            <a:off x="1459255" y="6345800"/>
            <a:ext cx="15376200" cy="10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8" name="Google Shape;18;g3f8aea27ec5_2_743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g3f8aea27ec5_2_751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21" name="Google Shape;21;g3f8aea27ec5_2_75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g3f8aea27ec5_2_75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23;g3f8aea27ec5_2_751"/>
          <p:cNvSpPr txBox="1"/>
          <p:nvPr>
            <p:ph type="title"/>
          </p:nvPr>
        </p:nvSpPr>
        <p:spPr>
          <a:xfrm>
            <a:off x="1458900" y="2644900"/>
            <a:ext cx="15376800" cy="303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g3f8aea27ec5_2_751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f8aea27ec5_2_757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" name="Google Shape;27;g3f8aea27ec5_2_757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28" name="Google Shape;28;g3f8aea27ec5_2_75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g3f8aea27ec5_2_75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0" name="Google Shape;30;g3f8aea27ec5_2_757"/>
          <p:cNvSpPr txBox="1"/>
          <p:nvPr>
            <p:ph type="title"/>
          </p:nvPr>
        </p:nvSpPr>
        <p:spPr>
          <a:xfrm>
            <a:off x="1458900" y="2637300"/>
            <a:ext cx="153774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1" name="Google Shape;31;g3f8aea27ec5_2_757"/>
          <p:cNvSpPr txBox="1"/>
          <p:nvPr>
            <p:ph idx="1" type="body"/>
          </p:nvPr>
        </p:nvSpPr>
        <p:spPr>
          <a:xfrm>
            <a:off x="1458900" y="4157750"/>
            <a:ext cx="15377400" cy="45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indent="-3683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683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indent="-3683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indent="-3683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indent="-3683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indent="-3683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indent="-3683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/>
        </p:txBody>
      </p:sp>
      <p:sp>
        <p:nvSpPr>
          <p:cNvPr id="32" name="Google Shape;32;g3f8aea27ec5_2_757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f8aea27ec5_2_765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" name="Google Shape;35;g3f8aea27ec5_2_765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36" name="Google Shape;36;g3f8aea27ec5_2_76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g3f8aea27ec5_2_76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8" name="Google Shape;38;g3f8aea27ec5_2_765"/>
          <p:cNvSpPr txBox="1"/>
          <p:nvPr>
            <p:ph type="title"/>
          </p:nvPr>
        </p:nvSpPr>
        <p:spPr>
          <a:xfrm>
            <a:off x="1458900" y="2637300"/>
            <a:ext cx="153768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9" name="Google Shape;39;g3f8aea27ec5_2_765"/>
          <p:cNvSpPr txBox="1"/>
          <p:nvPr>
            <p:ph idx="1" type="body"/>
          </p:nvPr>
        </p:nvSpPr>
        <p:spPr>
          <a:xfrm>
            <a:off x="1458650" y="4157750"/>
            <a:ext cx="7548600" cy="45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indent="-3683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683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indent="-3683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indent="-3683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indent="-3683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indent="-3683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indent="-3683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/>
        </p:txBody>
      </p:sp>
      <p:sp>
        <p:nvSpPr>
          <p:cNvPr id="40" name="Google Shape;40;g3f8aea27ec5_2_765"/>
          <p:cNvSpPr txBox="1"/>
          <p:nvPr>
            <p:ph idx="2" type="body"/>
          </p:nvPr>
        </p:nvSpPr>
        <p:spPr>
          <a:xfrm>
            <a:off x="9287207" y="4157750"/>
            <a:ext cx="7548600" cy="4522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indent="-3683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683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indent="-3683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indent="-3683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indent="-3683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indent="-3683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indent="-3683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/>
        </p:txBody>
      </p:sp>
      <p:sp>
        <p:nvSpPr>
          <p:cNvPr id="41" name="Google Shape;41;g3f8aea27ec5_2_765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3f8aea27ec5_2_774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" name="Google Shape;44;g3f8aea27ec5_2_774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45" name="Google Shape;45;g3f8aea27ec5_2_77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g3f8aea27ec5_2_77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" name="Google Shape;47;g3f8aea27ec5_2_774"/>
          <p:cNvSpPr txBox="1"/>
          <p:nvPr>
            <p:ph type="title"/>
          </p:nvPr>
        </p:nvSpPr>
        <p:spPr>
          <a:xfrm>
            <a:off x="1458900" y="2637300"/>
            <a:ext cx="153768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8" name="Google Shape;48;g3f8aea27ec5_2_774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f8aea27ec5_2_781"/>
          <p:cNvSpPr/>
          <p:nvPr/>
        </p:nvSpPr>
        <p:spPr>
          <a:xfrm>
            <a:off x="0" y="0"/>
            <a:ext cx="18288000" cy="97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1" name="Google Shape;51;g3f8aea27ec5_2_781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52" name="Google Shape;52;g3f8aea27ec5_2_78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g3f8aea27ec5_2_78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4" name="Google Shape;54;g3f8aea27ec5_2_781"/>
          <p:cNvSpPr txBox="1"/>
          <p:nvPr>
            <p:ph type="title"/>
          </p:nvPr>
        </p:nvSpPr>
        <p:spPr>
          <a:xfrm>
            <a:off x="1460000" y="2637300"/>
            <a:ext cx="6601800" cy="27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5" name="Google Shape;55;g3f8aea27ec5_2_781"/>
          <p:cNvSpPr txBox="1"/>
          <p:nvPr>
            <p:ph idx="1" type="body"/>
          </p:nvPr>
        </p:nvSpPr>
        <p:spPr>
          <a:xfrm>
            <a:off x="1442450" y="5563450"/>
            <a:ext cx="6601800" cy="31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indent="-3683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683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indent="-3683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indent="-3683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indent="-3683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indent="-3683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indent="-3683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/>
        </p:txBody>
      </p:sp>
      <p:sp>
        <p:nvSpPr>
          <p:cNvPr id="56" name="Google Shape;56;g3f8aea27ec5_2_781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g3f8aea27ec5_2_789"/>
          <p:cNvGrpSpPr/>
          <p:nvPr/>
        </p:nvGrpSpPr>
        <p:grpSpPr>
          <a:xfrm>
            <a:off x="1660784" y="8338260"/>
            <a:ext cx="1491526" cy="91652"/>
            <a:chOff x="4580561" y="2589004"/>
            <a:chExt cx="1064464" cy="25200"/>
          </a:xfrm>
        </p:grpSpPr>
        <p:sp>
          <p:nvSpPr>
            <p:cNvPr id="59" name="Google Shape;59;g3f8aea27ec5_2_78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g3f8aea27ec5_2_78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1" name="Google Shape;61;g3f8aea27ec5_2_789"/>
          <p:cNvSpPr txBox="1"/>
          <p:nvPr>
            <p:ph type="title"/>
          </p:nvPr>
        </p:nvSpPr>
        <p:spPr>
          <a:xfrm>
            <a:off x="1458900" y="1728600"/>
            <a:ext cx="14042400" cy="597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None/>
              <a:defRPr sz="7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2" name="Google Shape;62;g3f8aea27ec5_2_789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f8aea27ec5_2_795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5" name="Google Shape;65;g3f8aea27ec5_2_795"/>
          <p:cNvGrpSpPr/>
          <p:nvPr/>
        </p:nvGrpSpPr>
        <p:grpSpPr>
          <a:xfrm>
            <a:off x="1660784" y="2382511"/>
            <a:ext cx="1491526" cy="91652"/>
            <a:chOff x="4580561" y="2589004"/>
            <a:chExt cx="1064464" cy="25200"/>
          </a:xfrm>
        </p:grpSpPr>
        <p:sp>
          <p:nvSpPr>
            <p:cNvPr id="66" name="Google Shape;66;g3f8aea27ec5_2_79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g3f8aea27ec5_2_79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68" name="Google Shape;68;g3f8aea27ec5_2_795"/>
          <p:cNvSpPr txBox="1"/>
          <p:nvPr>
            <p:ph type="title"/>
          </p:nvPr>
        </p:nvSpPr>
        <p:spPr>
          <a:xfrm>
            <a:off x="1460000" y="2637300"/>
            <a:ext cx="6601800" cy="337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69" name="Google Shape;69;g3f8aea27ec5_2_795"/>
          <p:cNvSpPr txBox="1"/>
          <p:nvPr>
            <p:ph idx="1" type="subTitle"/>
          </p:nvPr>
        </p:nvSpPr>
        <p:spPr>
          <a:xfrm>
            <a:off x="1449900" y="6323050"/>
            <a:ext cx="6601800" cy="15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70" name="Google Shape;70;g3f8aea27ec5_2_795"/>
          <p:cNvSpPr txBox="1"/>
          <p:nvPr>
            <p:ph idx="2" type="body"/>
          </p:nvPr>
        </p:nvSpPr>
        <p:spPr>
          <a:xfrm>
            <a:off x="10348450" y="2705250"/>
            <a:ext cx="6748800" cy="60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  <a:defRPr/>
            </a:lvl1pPr>
            <a:lvl2pPr indent="-3683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3pPr>
            <a:lvl4pPr indent="-3683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4pPr>
            <a:lvl5pPr indent="-3683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5pPr>
            <a:lvl6pPr indent="-3683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6pPr>
            <a:lvl7pPr indent="-3683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  <a:defRPr/>
            </a:lvl7pPr>
            <a:lvl8pPr indent="-3683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○"/>
              <a:defRPr/>
            </a:lvl8pPr>
            <a:lvl9pPr indent="-3683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■"/>
              <a:defRPr/>
            </a:lvl9pPr>
          </a:lstStyle>
          <a:p/>
        </p:txBody>
      </p:sp>
      <p:sp>
        <p:nvSpPr>
          <p:cNvPr id="71" name="Google Shape;71;g3f8aea27ec5_2_795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8aea27ec5_2_804"/>
          <p:cNvSpPr txBox="1"/>
          <p:nvPr>
            <p:ph idx="1" type="body"/>
          </p:nvPr>
        </p:nvSpPr>
        <p:spPr>
          <a:xfrm>
            <a:off x="1449900" y="8745102"/>
            <a:ext cx="15394800" cy="92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</a:lstStyle>
          <a:p/>
        </p:txBody>
      </p:sp>
      <p:sp>
        <p:nvSpPr>
          <p:cNvPr id="74" name="Google Shape;74;g3f8aea27ec5_2_804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g3f8aea27ec5_2_807"/>
          <p:cNvGrpSpPr/>
          <p:nvPr/>
        </p:nvGrpSpPr>
        <p:grpSpPr>
          <a:xfrm>
            <a:off x="1660784" y="8338260"/>
            <a:ext cx="1491526" cy="91652"/>
            <a:chOff x="4580561" y="2589004"/>
            <a:chExt cx="1064464" cy="25200"/>
          </a:xfrm>
        </p:grpSpPr>
        <p:sp>
          <p:nvSpPr>
            <p:cNvPr id="77" name="Google Shape;77;g3f8aea27ec5_2_80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g3f8aea27ec5_2_80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g3f8aea27ec5_2_807"/>
          <p:cNvSpPr txBox="1"/>
          <p:nvPr>
            <p:ph hasCustomPrompt="1" type="title"/>
          </p:nvPr>
        </p:nvSpPr>
        <p:spPr>
          <a:xfrm>
            <a:off x="1458900" y="1467900"/>
            <a:ext cx="15376800" cy="2489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0" name="Google Shape;80;g3f8aea27ec5_2_807"/>
          <p:cNvSpPr txBox="1"/>
          <p:nvPr>
            <p:ph idx="1" type="body"/>
          </p:nvPr>
        </p:nvSpPr>
        <p:spPr>
          <a:xfrm>
            <a:off x="1458900" y="4545776"/>
            <a:ext cx="15376800" cy="3160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937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Char char="●"/>
              <a:defRPr>
                <a:solidFill>
                  <a:schemeClr val="lt1"/>
                </a:solidFill>
              </a:defRPr>
            </a:lvl1pPr>
            <a:lvl2pPr indent="-3683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○"/>
              <a:defRPr>
                <a:solidFill>
                  <a:schemeClr val="lt1"/>
                </a:solidFill>
              </a:defRPr>
            </a:lvl2pPr>
            <a:lvl3pPr indent="-3683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■"/>
              <a:defRPr>
                <a:solidFill>
                  <a:schemeClr val="lt1"/>
                </a:solidFill>
              </a:defRPr>
            </a:lvl3pPr>
            <a:lvl4pPr indent="-3683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●"/>
              <a:defRPr>
                <a:solidFill>
                  <a:schemeClr val="lt1"/>
                </a:solidFill>
              </a:defRPr>
            </a:lvl4pPr>
            <a:lvl5pPr indent="-3683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○"/>
              <a:defRPr>
                <a:solidFill>
                  <a:schemeClr val="lt1"/>
                </a:solidFill>
              </a:defRPr>
            </a:lvl5pPr>
            <a:lvl6pPr indent="-3683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■"/>
              <a:defRPr>
                <a:solidFill>
                  <a:schemeClr val="lt1"/>
                </a:solidFill>
              </a:defRPr>
            </a:lvl6pPr>
            <a:lvl7pPr indent="-3683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●"/>
              <a:defRPr>
                <a:solidFill>
                  <a:schemeClr val="lt1"/>
                </a:solidFill>
              </a:defRPr>
            </a:lvl7pPr>
            <a:lvl8pPr indent="-3683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○"/>
              <a:defRPr>
                <a:solidFill>
                  <a:schemeClr val="lt1"/>
                </a:solidFill>
              </a:defRPr>
            </a:lvl8pPr>
            <a:lvl9pPr indent="-3683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1" name="Google Shape;81;g3f8aea27ec5_2_807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f8aea27ec5_2_73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Font typeface="Raleway"/>
              <a:buNone/>
              <a:defRPr b="1" i="0" sz="56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g3f8aea27ec5_2_73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937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00"/>
              <a:buFont typeface="Lato"/>
              <a:buChar char="●"/>
              <a:defRPr b="0" i="0" sz="26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683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○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683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■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683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●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683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○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683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■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683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●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683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○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683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Lato"/>
              <a:buChar char="■"/>
              <a:defRPr b="0" i="0" sz="22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g3f8aea27ec5_2_739"/>
          <p:cNvSpPr txBox="1"/>
          <p:nvPr>
            <p:ph idx="12" type="sldNum"/>
          </p:nvPr>
        </p:nvSpPr>
        <p:spPr>
          <a:xfrm>
            <a:off x="17072605" y="9499702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20.jpg"/><Relationship Id="rId5" Type="http://schemas.openxmlformats.org/officeDocument/2006/relationships/image" Target="../media/image41.jpg"/><Relationship Id="rId6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Relationship Id="rId5" Type="http://schemas.openxmlformats.org/officeDocument/2006/relationships/image" Target="../media/image3.png"/><Relationship Id="rId6" Type="http://schemas.openxmlformats.org/officeDocument/2006/relationships/image" Target="../media/image1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jpg"/><Relationship Id="rId4" Type="http://schemas.openxmlformats.org/officeDocument/2006/relationships/image" Target="../media/image7.png"/><Relationship Id="rId5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4.jpg"/><Relationship Id="rId4" Type="http://schemas.openxmlformats.org/officeDocument/2006/relationships/image" Target="../media/image42.png"/><Relationship Id="rId5" Type="http://schemas.openxmlformats.org/officeDocument/2006/relationships/image" Target="../media/image21.png"/><Relationship Id="rId6" Type="http://schemas.openxmlformats.org/officeDocument/2006/relationships/image" Target="../media/image1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jpg"/><Relationship Id="rId4" Type="http://schemas.openxmlformats.org/officeDocument/2006/relationships/image" Target="../media/image33.png"/><Relationship Id="rId11" Type="http://schemas.openxmlformats.org/officeDocument/2006/relationships/image" Target="../media/image39.png"/><Relationship Id="rId10" Type="http://schemas.openxmlformats.org/officeDocument/2006/relationships/image" Target="../media/image25.png"/><Relationship Id="rId12" Type="http://schemas.openxmlformats.org/officeDocument/2006/relationships/image" Target="../media/image26.png"/><Relationship Id="rId9" Type="http://schemas.openxmlformats.org/officeDocument/2006/relationships/image" Target="../media/image38.png"/><Relationship Id="rId5" Type="http://schemas.openxmlformats.org/officeDocument/2006/relationships/image" Target="../media/image30.png"/><Relationship Id="rId6" Type="http://schemas.openxmlformats.org/officeDocument/2006/relationships/image" Target="../media/image22.png"/><Relationship Id="rId7" Type="http://schemas.openxmlformats.org/officeDocument/2006/relationships/image" Target="../media/image35.png"/><Relationship Id="rId8" Type="http://schemas.openxmlformats.org/officeDocument/2006/relationships/image" Target="../media/image2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4.png"/><Relationship Id="rId4" Type="http://schemas.openxmlformats.org/officeDocument/2006/relationships/image" Target="../media/image3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0.png"/><Relationship Id="rId4" Type="http://schemas.openxmlformats.org/officeDocument/2006/relationships/image" Target="../media/image36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9.png"/><Relationship Id="rId4" Type="http://schemas.openxmlformats.org/officeDocument/2006/relationships/hyperlink" Target="https://milyunaideas.vercel.app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jpg"/><Relationship Id="rId4" Type="http://schemas.openxmlformats.org/officeDocument/2006/relationships/image" Target="../media/image3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86107" y="3"/>
            <a:ext cx="15430500" cy="10287000"/>
          </a:xfrm>
          <a:prstGeom prst="parallelogram">
            <a:avLst>
              <a:gd fmla="val 25000" name="adj"/>
            </a:avLst>
          </a:prstGeom>
          <a:noFill/>
          <a:ln>
            <a:noFill/>
          </a:ln>
          <a:effectLst>
            <a:outerShdw blurRad="142875" rotWithShape="0" algn="bl" dir="10800000" dist="9525">
              <a:srgbClr val="000000">
                <a:alpha val="50196"/>
              </a:srgbClr>
            </a:outerShdw>
          </a:effectLst>
        </p:spPr>
      </p:pic>
      <p:sp>
        <p:nvSpPr>
          <p:cNvPr id="87" name="Google Shape;87;p1"/>
          <p:cNvSpPr/>
          <p:nvPr/>
        </p:nvSpPr>
        <p:spPr>
          <a:xfrm>
            <a:off x="581600" y="2326016"/>
            <a:ext cx="9144000" cy="183000"/>
          </a:xfrm>
          <a:prstGeom prst="rect">
            <a:avLst/>
          </a:prstGeom>
          <a:solidFill>
            <a:srgbClr val="35528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824225" y="4959000"/>
            <a:ext cx="3388200" cy="44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Docente</a:t>
            </a:r>
            <a:br>
              <a:rPr b="0" i="0" lang="en-US" sz="3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Mauricio Figueroa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Asignatura</a:t>
            </a:r>
            <a:b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Capstone 002D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Integrantes</a:t>
            </a:r>
            <a:br>
              <a:rPr b="0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Smolenks Aravena</a:t>
            </a:r>
            <a:br>
              <a:rPr b="0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Matías González</a:t>
            </a:r>
            <a:br>
              <a:rPr b="0" i="0" lang="en-US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Jean Leyton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24225" y="1000925"/>
            <a:ext cx="8762400" cy="132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86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MIL Y UNA IDEAS</a:t>
            </a:r>
            <a:endParaRPr b="0" i="0" sz="8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581600" y="2510525"/>
            <a:ext cx="3388200" cy="9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355286"/>
                </a:solidFill>
              </a:rPr>
              <a:t>Presentación Avances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g3f8aea27ec5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0500" y="2669975"/>
            <a:ext cx="14604900" cy="12822000"/>
          </a:xfrm>
          <a:prstGeom prst="ellipse">
            <a:avLst/>
          </a:prstGeom>
          <a:noFill/>
          <a:ln>
            <a:noFill/>
          </a:ln>
          <a:effectLst>
            <a:outerShdw blurRad="142875" rotWithShape="0" algn="bl" dir="10800000" dist="9525">
              <a:srgbClr val="000000">
                <a:alpha val="50196"/>
              </a:srgbClr>
            </a:outerShdw>
          </a:effectLst>
        </p:spPr>
      </p:pic>
      <p:sp>
        <p:nvSpPr>
          <p:cNvPr id="96" name="Google Shape;96;g3f8aea27ec5_0_0"/>
          <p:cNvSpPr txBox="1"/>
          <p:nvPr/>
        </p:nvSpPr>
        <p:spPr>
          <a:xfrm>
            <a:off x="1028700" y="828850"/>
            <a:ext cx="124392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Tabla De Contenidos</a:t>
            </a:r>
            <a:endParaRPr sz="7200"/>
          </a:p>
        </p:txBody>
      </p:sp>
      <p:sp>
        <p:nvSpPr>
          <p:cNvPr id="97" name="Google Shape;97;g3f8aea27ec5_0_0"/>
          <p:cNvSpPr txBox="1"/>
          <p:nvPr/>
        </p:nvSpPr>
        <p:spPr>
          <a:xfrm>
            <a:off x="1028700" y="2076488"/>
            <a:ext cx="7092600" cy="78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Contexto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Problemas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Necesidad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Solución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RFs y RNFs, Épicas e Historias de Usuario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Arquitectura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Modelo de datos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Metodología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Roles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Evidencias por Sprint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Cronograma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Demostración Incremento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3000">
                <a:solidFill>
                  <a:srgbClr val="355286"/>
                </a:solidFill>
              </a:rPr>
              <a:t>onclusiones y próximos pasos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AutoNum type="arabicPeriod"/>
            </a:pPr>
            <a:r>
              <a:rPr lang="en-US" sz="3000">
                <a:solidFill>
                  <a:srgbClr val="355286"/>
                </a:solidFill>
              </a:rPr>
              <a:t>Reflexión Final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g3f8aea27ec5_0_0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FFFFFF"/>
                </a:solidFill>
              </a:rPr>
              <a:t>‹#›</a:t>
            </a:fld>
            <a:r>
              <a:rPr b="1" lang="en-US" sz="2400">
                <a:solidFill>
                  <a:srgbClr val="FFFFFF"/>
                </a:solidFill>
              </a:rPr>
              <a:t> / 29</a:t>
            </a:r>
            <a:endParaRPr b="1" sz="24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8addd4091_0_3"/>
          <p:cNvSpPr txBox="1"/>
          <p:nvPr/>
        </p:nvSpPr>
        <p:spPr>
          <a:xfrm>
            <a:off x="1028700" y="828850"/>
            <a:ext cx="70674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1. Contexto</a:t>
            </a:r>
            <a:endParaRPr sz="7200"/>
          </a:p>
        </p:txBody>
      </p:sp>
      <p:sp>
        <p:nvSpPr>
          <p:cNvPr id="104" name="Google Shape;104;g3f8addd4091_0_3"/>
          <p:cNvSpPr txBox="1"/>
          <p:nvPr/>
        </p:nvSpPr>
        <p:spPr>
          <a:xfrm>
            <a:off x="1028700" y="7119025"/>
            <a:ext cx="65085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Taller de costura, en el cual se realizan confecciones de prendas, dentro de estos: ropa deportiva, uniformes escolares, ropa de trabajo, bolsos, mochilas, gorros, entre otros.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g3f8addd4091_0_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06" name="Google Shape;106;g3f8addd4091_0_3" title="WhatsApp Image 2026-08-30 at 14.25.17.jpe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430350" y="488450"/>
            <a:ext cx="3986700" cy="53157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21540000" dist="19050">
              <a:srgbClr val="000000">
                <a:alpha val="50196"/>
              </a:srgbClr>
            </a:outerShdw>
          </a:effectLst>
        </p:spPr>
      </p:pic>
      <p:pic>
        <p:nvPicPr>
          <p:cNvPr id="107" name="Google Shape;107;g3f8addd4091_0_3" title="WhatsApp Image 2026-08-30 at 14.25.18.jpe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319975" y="2388700"/>
            <a:ext cx="4205400" cy="56073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21540000" dist="57150">
              <a:srgbClr val="000000">
                <a:alpha val="50196"/>
              </a:srgbClr>
            </a:outerShdw>
          </a:effectLst>
        </p:spPr>
      </p:pic>
      <p:pic>
        <p:nvPicPr>
          <p:cNvPr id="108" name="Google Shape;108;g3f8addd4091_0_3" title="WhatsApp Image 2026-08-30 at 14.25.201.jpe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24950" y="4063800"/>
            <a:ext cx="4205400" cy="56073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21540000" dist="19050">
              <a:srgbClr val="000000">
                <a:alpha val="50196"/>
              </a:srgbClr>
            </a:outerShdw>
          </a:effectLst>
        </p:spPr>
      </p:pic>
      <p:sp>
        <p:nvSpPr>
          <p:cNvPr id="109" name="Google Shape;109;g3f8addd4091_0_3"/>
          <p:cNvSpPr txBox="1"/>
          <p:nvPr/>
        </p:nvSpPr>
        <p:spPr>
          <a:xfrm>
            <a:off x="1028700" y="2388700"/>
            <a:ext cx="4945800" cy="17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Mil y una ideas SPA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Char char="●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Carolina Palma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355286"/>
              </a:buClr>
              <a:buSzPts val="3000"/>
              <a:buFont typeface="Arial"/>
              <a:buChar char="●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Valparaiso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f8addd4091_0_3"/>
          <p:cNvSpPr/>
          <p:nvPr/>
        </p:nvSpPr>
        <p:spPr>
          <a:xfrm>
            <a:off x="4572012" y="3030602"/>
            <a:ext cx="3586423" cy="3422576"/>
          </a:xfrm>
          <a:custGeom>
            <a:rect b="b" l="l" r="r" t="t"/>
            <a:pathLst>
              <a:path extrusionOk="0" h="7282077" w="7282077">
                <a:moveTo>
                  <a:pt x="0" y="0"/>
                </a:moveTo>
                <a:lnTo>
                  <a:pt x="7282077" y="0"/>
                </a:lnTo>
                <a:lnTo>
                  <a:pt x="7282077" y="7282076"/>
                </a:lnTo>
                <a:lnTo>
                  <a:pt x="0" y="72820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</a:effectLst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"/>
          <p:cNvSpPr/>
          <p:nvPr/>
        </p:nvSpPr>
        <p:spPr>
          <a:xfrm>
            <a:off x="1028700" y="2335365"/>
            <a:ext cx="7016375" cy="6384901"/>
          </a:xfrm>
          <a:custGeom>
            <a:rect b="b" l="l" r="r" t="t"/>
            <a:pathLst>
              <a:path extrusionOk="0" h="6384901" w="7016375">
                <a:moveTo>
                  <a:pt x="0" y="0"/>
                </a:moveTo>
                <a:lnTo>
                  <a:pt x="7016375" y="0"/>
                </a:lnTo>
                <a:lnTo>
                  <a:pt x="7016375" y="6384902"/>
                </a:lnTo>
                <a:lnTo>
                  <a:pt x="0" y="638490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16" name="Google Shape;116;p3"/>
          <p:cNvSpPr txBox="1"/>
          <p:nvPr/>
        </p:nvSpPr>
        <p:spPr>
          <a:xfrm>
            <a:off x="1028700" y="65955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2. Problemas</a:t>
            </a:r>
            <a:endParaRPr sz="7200"/>
          </a:p>
        </p:txBody>
      </p:sp>
      <p:sp>
        <p:nvSpPr>
          <p:cNvPr id="117" name="Google Shape;117;p3"/>
          <p:cNvSpPr txBox="1"/>
          <p:nvPr/>
        </p:nvSpPr>
        <p:spPr>
          <a:xfrm>
            <a:off x="9591134" y="2552239"/>
            <a:ext cx="7883400" cy="654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Gestión 100% Manual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Registro en papel o comunicación verbal, lo que provoca pérdida de trazabilidad e historial con los clientes.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Falta de Visibilidad en Producción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Dificultad sobre el estado real de los pedidos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Descontrol de Responsabilidades Internas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 Dificultad para asignar, monitorear y evaluar el trabajo individual de cortadoras y operarias.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3"/>
          <p:cNvSpPr txBox="1"/>
          <p:nvPr>
            <p:ph idx="12" type="sldNum"/>
          </p:nvPr>
        </p:nvSpPr>
        <p:spPr>
          <a:xfrm>
            <a:off x="15760425" y="968620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 fontScale="25000" lnSpcReduction="2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fld id="{00000000-1234-1234-1234-123412341234}" type="slidenum">
              <a:rPr lang="en-US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‹#›</a:t>
            </a:fld>
            <a:endParaRPr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9" name="Google Shape;119;p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"/>
          <p:cNvSpPr txBox="1"/>
          <p:nvPr/>
        </p:nvSpPr>
        <p:spPr>
          <a:xfrm>
            <a:off x="8362950" y="860167"/>
            <a:ext cx="86994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3. Necesidad</a:t>
            </a:r>
            <a:endParaRPr sz="7200"/>
          </a:p>
        </p:txBody>
      </p:sp>
      <p:sp>
        <p:nvSpPr>
          <p:cNvPr id="125" name="Google Shape;125;p4"/>
          <p:cNvSpPr txBox="1"/>
          <p:nvPr/>
        </p:nvSpPr>
        <p:spPr>
          <a:xfrm>
            <a:off x="8362950" y="2576138"/>
            <a:ext cx="8115300" cy="641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Centralización de Información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Registrar clientes, pedidos y especificaciones técnicas en una sola base de datos accesible.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Trazabilidad en Tiempo Real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Visualizar el flujo de trabajo en el taller para detectar cuellos de botella y cumplir plazos de entrega.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Control Operativo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Sistema digital de asignación de tareas por rol para transparentar responsabilidades y medir tiempos de producción.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861353" cy="10286999"/>
          </a:xfrm>
          <a:prstGeom prst="rect">
            <a:avLst/>
          </a:prstGeom>
          <a:noFill/>
          <a:ln>
            <a:noFill/>
          </a:ln>
          <a:effectLst>
            <a:outerShdw blurRad="142875" rotWithShape="0" algn="bl" dir="5400000" dist="9525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"/>
          <p:cNvSpPr txBox="1"/>
          <p:nvPr/>
        </p:nvSpPr>
        <p:spPr>
          <a:xfrm>
            <a:off x="4629150" y="310400"/>
            <a:ext cx="6591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4. Solución</a:t>
            </a:r>
            <a:endParaRPr sz="7200"/>
          </a:p>
        </p:txBody>
      </p:sp>
      <p:sp>
        <p:nvSpPr>
          <p:cNvPr id="133" name="Google Shape;133;p5"/>
          <p:cNvSpPr txBox="1"/>
          <p:nvPr/>
        </p:nvSpPr>
        <p:spPr>
          <a:xfrm>
            <a:off x="2527200" y="1850700"/>
            <a:ext cx="10795200" cy="112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Plataforma Web de Gestión Textil</a:t>
            </a:r>
            <a:endParaRPr b="0" i="0" sz="3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Sistema integral para digitalizar la operación interna del taller.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grpSp>
        <p:nvGrpSpPr>
          <p:cNvPr id="135" name="Google Shape;135;p5"/>
          <p:cNvGrpSpPr/>
          <p:nvPr/>
        </p:nvGrpSpPr>
        <p:grpSpPr>
          <a:xfrm>
            <a:off x="1628750" y="3638550"/>
            <a:ext cx="11177625" cy="1805900"/>
            <a:chOff x="919475" y="3695700"/>
            <a:chExt cx="11177625" cy="1805900"/>
          </a:xfrm>
        </p:grpSpPr>
        <p:pic>
          <p:nvPicPr>
            <p:cNvPr id="136" name="Google Shape;136;p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19475" y="3695700"/>
              <a:ext cx="1805900" cy="1805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7" name="Google Shape;137;p5"/>
            <p:cNvSpPr txBox="1"/>
            <p:nvPr/>
          </p:nvSpPr>
          <p:spPr>
            <a:xfrm>
              <a:off x="3032000" y="3772600"/>
              <a:ext cx="9065100" cy="165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rgbClr val="355286"/>
                  </a:solidFill>
                  <a:latin typeface="Arial"/>
                  <a:ea typeface="Arial"/>
                  <a:cs typeface="Arial"/>
                  <a:sym typeface="Arial"/>
                </a:rPr>
                <a:t>Módulo de Pedidos</a:t>
              </a:r>
              <a:endParaRPr b="0" i="0" sz="3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just">
                <a:lnSpc>
                  <a:spcPct val="115000"/>
                </a:lnSpc>
                <a:spcBef>
                  <a:spcPts val="1000"/>
                </a:spcBef>
                <a:spcAft>
                  <a:spcPts val="100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0" i="0" lang="en-US" sz="3000" u="none" cap="none" strike="noStrike">
                  <a:solidFill>
                    <a:srgbClr val="355286"/>
                  </a:solidFill>
                  <a:latin typeface="Arial"/>
                  <a:ea typeface="Arial"/>
                  <a:cs typeface="Arial"/>
                  <a:sym typeface="Arial"/>
                </a:rPr>
                <a:t>Captura estructurada de órdenes con fichas técnicas dinámicas (tallas, cortes y personalizaciones).</a:t>
              </a:r>
              <a:endParaRPr b="0" i="0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38" name="Google Shape;138;p5"/>
          <p:cNvGrpSpPr/>
          <p:nvPr/>
        </p:nvGrpSpPr>
        <p:grpSpPr>
          <a:xfrm>
            <a:off x="1542838" y="5907150"/>
            <a:ext cx="11263350" cy="1811425"/>
            <a:chOff x="790550" y="5922725"/>
            <a:chExt cx="11263350" cy="1811425"/>
          </a:xfrm>
        </p:grpSpPr>
        <p:pic>
          <p:nvPicPr>
            <p:cNvPr id="139" name="Google Shape;139;p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90550" y="5928250"/>
              <a:ext cx="1805900" cy="1805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0" name="Google Shape;140;p5"/>
            <p:cNvSpPr txBox="1"/>
            <p:nvPr/>
          </p:nvSpPr>
          <p:spPr>
            <a:xfrm>
              <a:off x="2989100" y="5922725"/>
              <a:ext cx="9064800" cy="165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rgbClr val="355286"/>
                  </a:solidFill>
                  <a:latin typeface="Arial"/>
                  <a:ea typeface="Arial"/>
                  <a:cs typeface="Arial"/>
                  <a:sym typeface="Arial"/>
                </a:rPr>
                <a:t>Panel de Control y Roles</a:t>
              </a:r>
              <a:endParaRPr b="0" i="0" sz="3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just">
                <a:lnSpc>
                  <a:spcPct val="115000"/>
                </a:lnSpc>
                <a:spcBef>
                  <a:spcPts val="1000"/>
                </a:spcBef>
                <a:spcAft>
                  <a:spcPts val="100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0" i="0" lang="en-US" sz="3000" u="none" cap="none" strike="noStrike">
                  <a:solidFill>
                    <a:srgbClr val="355286"/>
                  </a:solidFill>
                  <a:latin typeface="Arial"/>
                  <a:ea typeface="Arial"/>
                  <a:cs typeface="Arial"/>
                  <a:sym typeface="Arial"/>
                </a:rPr>
                <a:t>Interfaces a medida para Jefa de Taller, Cortadoras y Operarias para actualización de estados en un clic.</a:t>
              </a:r>
              <a:endParaRPr b="0" i="0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1" name="Google Shape;141;p5"/>
          <p:cNvGrpSpPr/>
          <p:nvPr/>
        </p:nvGrpSpPr>
        <p:grpSpPr>
          <a:xfrm>
            <a:off x="1628750" y="8181275"/>
            <a:ext cx="11177550" cy="1805900"/>
            <a:chOff x="790550" y="8238425"/>
            <a:chExt cx="11177550" cy="1805900"/>
          </a:xfrm>
        </p:grpSpPr>
        <p:pic>
          <p:nvPicPr>
            <p:cNvPr id="142" name="Google Shape;142;p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790550" y="8238425"/>
              <a:ext cx="1805900" cy="1805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3" name="Google Shape;143;p5"/>
            <p:cNvSpPr txBox="1"/>
            <p:nvPr/>
          </p:nvSpPr>
          <p:spPr>
            <a:xfrm>
              <a:off x="3032000" y="8238425"/>
              <a:ext cx="8936100" cy="165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just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rgbClr val="355286"/>
                  </a:solidFill>
                  <a:latin typeface="Arial"/>
                  <a:ea typeface="Arial"/>
                  <a:cs typeface="Arial"/>
                  <a:sym typeface="Arial"/>
                </a:rPr>
                <a:t>Trazabilidad Inteligente</a:t>
              </a:r>
              <a:endParaRPr b="1" i="0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just">
                <a:lnSpc>
                  <a:spcPct val="115000"/>
                </a:lnSpc>
                <a:spcBef>
                  <a:spcPts val="1000"/>
                </a:spcBef>
                <a:spcAft>
                  <a:spcPts val="100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0" i="0" lang="en-US" sz="3000" u="none" cap="none" strike="noStrike">
                  <a:solidFill>
                    <a:srgbClr val="355286"/>
                  </a:solidFill>
                  <a:latin typeface="Arial"/>
                  <a:ea typeface="Arial"/>
                  <a:cs typeface="Arial"/>
                  <a:sym typeface="Arial"/>
                </a:rPr>
                <a:t>Dashboard visual con métricas de avance y asistencia con IA para reportes del taller.</a:t>
              </a:r>
              <a:endParaRPr b="0" i="0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44" name="Google Shape;144;p5"/>
          <p:cNvPicPr preferRelativeResize="0"/>
          <p:nvPr/>
        </p:nvPicPr>
        <p:blipFill rotWithShape="1">
          <a:blip r:embed="rId6">
            <a:alphaModFix/>
          </a:blip>
          <a:srcRect b="1354" l="0" r="0" t="2584"/>
          <a:stretch/>
        </p:blipFill>
        <p:spPr>
          <a:xfrm rot="10800000">
            <a:off x="13393500" y="-175"/>
            <a:ext cx="4894500" cy="6531600"/>
          </a:xfrm>
          <a:prstGeom prst="triangle">
            <a:avLst>
              <a:gd fmla="val 0" name="adj"/>
            </a:avLst>
          </a:prstGeom>
          <a:noFill/>
          <a:ln>
            <a:noFill/>
          </a:ln>
          <a:effectLst>
            <a:outerShdw blurRad="142875" rotWithShape="0" algn="bl" dir="5400000" dist="9525">
              <a:srgbClr val="000000">
                <a:alpha val="50196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 txBox="1"/>
          <p:nvPr/>
        </p:nvSpPr>
        <p:spPr>
          <a:xfrm>
            <a:off x="767625" y="912125"/>
            <a:ext cx="15138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5. Requerimientos Funcionales</a:t>
            </a:r>
            <a:endParaRPr sz="7200"/>
          </a:p>
        </p:txBody>
      </p:sp>
      <p:sp>
        <p:nvSpPr>
          <p:cNvPr id="150" name="Google Shape;150;p6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51" name="Google Shape;15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07875" y="3934050"/>
            <a:ext cx="4268300" cy="42683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6"/>
          <p:cNvSpPr txBox="1"/>
          <p:nvPr/>
        </p:nvSpPr>
        <p:spPr>
          <a:xfrm>
            <a:off x="709250" y="3159520"/>
            <a:ext cx="9417300" cy="496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5740" lvl="1" marL="608112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Char char="•"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Gestión de Clientes: 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Permite registrar, consultar y actualizar la información de los clientes frecuentes del taller.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5740" lvl="1" marL="608112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Char char="•"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Registro de Trabajo Realizado: 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Permite registrar los trabajos realizados a cada cliente, incluyendo información relevante sobre el servicio efectuado.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5740" lvl="1" marL="608112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355286"/>
              </a:buClr>
              <a:buSzPts val="3000"/>
              <a:buFont typeface="Arial"/>
              <a:buChar char="•"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Visibilidad de redes sociales: 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Permite a los clientes acceder fácilmente a las redes sociales del taller mediante enlaces visibles dentro del sistema.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8addd4091_0_16"/>
          <p:cNvSpPr txBox="1"/>
          <p:nvPr/>
        </p:nvSpPr>
        <p:spPr>
          <a:xfrm>
            <a:off x="767625" y="912125"/>
            <a:ext cx="153432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5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.1.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Requerimientos No Funcionales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g3f8addd4091_0_16"/>
          <p:cNvSpPr txBox="1"/>
          <p:nvPr/>
        </p:nvSpPr>
        <p:spPr>
          <a:xfrm>
            <a:off x="767625" y="4037500"/>
            <a:ext cx="9884100" cy="443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15740" lvl="1" marL="608112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Char char="•"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Seguridad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: El sistema debe proteger las credenciales de los usuarios mediante almacenamiento seguro de contraseñas y autenticación.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5740" lvl="1" marL="608112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Char char="•"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Control de acceso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: El sistema debe restringir el acceso a las funciones según el rol del usuario.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5740" lvl="1" marL="608112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355286"/>
              </a:buClr>
              <a:buSzPts val="3000"/>
              <a:buFont typeface="Arial"/>
              <a:buChar char="•"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Trazabilidad</a:t>
            </a: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: Cada trabajo registrado debe conservar información sobre quién lo registró y cuándo fue realizado.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g3f8addd4091_0_16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60" name="Google Shape;160;g3f8addd4091_0_16"/>
          <p:cNvPicPr preferRelativeResize="0"/>
          <p:nvPr/>
        </p:nvPicPr>
        <p:blipFill rotWithShape="1">
          <a:blip r:embed="rId3">
            <a:alphaModFix/>
          </a:blip>
          <a:srcRect b="0" l="7429" r="8622" t="0"/>
          <a:stretch/>
        </p:blipFill>
        <p:spPr>
          <a:xfrm>
            <a:off x="13257800" y="3774325"/>
            <a:ext cx="3458550" cy="4119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f8aea27ec5_3_23"/>
          <p:cNvSpPr txBox="1"/>
          <p:nvPr/>
        </p:nvSpPr>
        <p:spPr>
          <a:xfrm>
            <a:off x="1231600" y="889725"/>
            <a:ext cx="5733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5.2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Épicas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g3f8aea27ec5_3_2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67" name="Google Shape;167;g3f8aea27ec5_3_23"/>
          <p:cNvPicPr preferRelativeResize="0"/>
          <p:nvPr/>
        </p:nvPicPr>
        <p:blipFill rotWithShape="1">
          <a:blip r:embed="rId3">
            <a:alphaModFix/>
          </a:blip>
          <a:srcRect b="0" l="16096" r="16015" t="0"/>
          <a:stretch/>
        </p:blipFill>
        <p:spPr>
          <a:xfrm>
            <a:off x="14724350" y="3465550"/>
            <a:ext cx="2568475" cy="37834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68" name="Google Shape;168;g3f8aea27ec5_3_23"/>
          <p:cNvGraphicFramePr/>
          <p:nvPr/>
        </p:nvGraphicFramePr>
        <p:xfrm>
          <a:off x="889400" y="299473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{97CA865E-F427-4DBF-9899-1797EF6F0879}</a:tableStyleId>
              </a:tblPr>
              <a:tblGrid>
                <a:gridCol w="3096725"/>
                <a:gridCol w="9564700"/>
              </a:tblGrid>
              <a:tr h="1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solidFill>
                            <a:srgbClr val="355286"/>
                          </a:solidFill>
                        </a:rPr>
                        <a:t>Gestión de pedidos</a:t>
                      </a:r>
                      <a:endParaRPr b="1"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cap="none" strike="noStrike">
                          <a:solidFill>
                            <a:srgbClr val="355286"/>
                          </a:solidFill>
                        </a:rPr>
                        <a:t>Permitir registrar y administrar los pedidos realizados en el taller, manteniendo un respaldo de la información asociada a cada uno.</a:t>
                      </a:r>
                      <a:endParaRPr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solidFill>
                            <a:srgbClr val="355286"/>
                          </a:solidFill>
                        </a:rPr>
                        <a:t>Gestión de tareas y trabajadores</a:t>
                      </a:r>
                      <a:endParaRPr b="1"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cap="none" strike="noStrike">
                          <a:solidFill>
                            <a:srgbClr val="355286"/>
                          </a:solidFill>
                        </a:rPr>
                        <a:t>Permitir a la jefa del taller organizar y asignar las tareas a los trabajadores para mantener un mejor control de las actividades.</a:t>
                      </a:r>
                      <a:endParaRPr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7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solidFill>
                            <a:srgbClr val="355286"/>
                          </a:solidFill>
                        </a:rPr>
                        <a:t>Seguimiento de trabajos realizados</a:t>
                      </a:r>
                      <a:endParaRPr b="1"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cap="none" strike="noStrike">
                          <a:solidFill>
                            <a:srgbClr val="355286"/>
                          </a:solidFill>
                        </a:rPr>
                        <a:t>Permitir a la jefa supervisar las tareas realizadas por los trabajadores, conocer su estado y llevar un control de las labores efectuadas.</a:t>
                      </a:r>
                      <a:endParaRPr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b="1" lang="en-US" sz="2400" u="none" cap="none" strike="noStrike">
                          <a:solidFill>
                            <a:srgbClr val="355286"/>
                          </a:solidFill>
                        </a:rPr>
                        <a:t>Información del taller</a:t>
                      </a:r>
                      <a:endParaRPr b="1"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400"/>
                        <a:buFont typeface="Arial"/>
                        <a:buNone/>
                      </a:pPr>
                      <a:r>
                        <a:rPr lang="en-US" sz="2400" u="none" cap="none" strike="noStrike">
                          <a:solidFill>
                            <a:srgbClr val="355286"/>
                          </a:solidFill>
                        </a:rPr>
                        <a:t>Permitir a los clientes acceder fácilmente a información relevante del taller, como sus redes sociales y otros medios de contacto.</a:t>
                      </a:r>
                      <a:endParaRPr sz="24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lgDash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7"/>
          <p:cNvPicPr preferRelativeResize="0"/>
          <p:nvPr/>
        </p:nvPicPr>
        <p:blipFill rotWithShape="1">
          <a:blip r:embed="rId3">
            <a:alphaModFix amt="10000"/>
          </a:blip>
          <a:srcRect b="0" l="0" r="0" t="0"/>
          <a:stretch/>
        </p:blipFill>
        <p:spPr>
          <a:xfrm>
            <a:off x="9" y="-426362"/>
            <a:ext cx="18288000" cy="11978062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7"/>
          <p:cNvSpPr txBox="1"/>
          <p:nvPr/>
        </p:nvSpPr>
        <p:spPr>
          <a:xfrm>
            <a:off x="1268400" y="613675"/>
            <a:ext cx="15855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5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.3. H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istorias de Usuario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7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graphicFrame>
        <p:nvGraphicFramePr>
          <p:cNvPr id="176" name="Google Shape;176;p7"/>
          <p:cNvGraphicFramePr/>
          <p:nvPr/>
        </p:nvGraphicFramePr>
        <p:xfrm>
          <a:off x="672425" y="20978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{97CA865E-F427-4DBF-9899-1797EF6F0879}</a:tableStyleId>
              </a:tblPr>
              <a:tblGrid>
                <a:gridCol w="2988750"/>
                <a:gridCol w="12961625"/>
              </a:tblGrid>
              <a:tr h="221600">
                <a:tc row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355286"/>
                          </a:solidFill>
                        </a:rPr>
                        <a:t>Organización de tareas del taller</a:t>
                      </a:r>
                      <a:endParaRPr b="1"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 quiero integrar recordatorios de Google Calendar para gestionar los plazos de entrega.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35625">
                <a:tc vMerge="1"/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 quiero cambiar el estado de las tareas (pendiente, en proceso, finalizada) para llevar un control visual del avance.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 quiero adjuntar notas o instrucciones específicas a cada tarea asignada para evitar errores en la ejecución del trabajo.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 quiero definir el estado de entrega de los pedidos para diferenciar cuándo una prenda está finalizada o si ha sido entregada al cliente.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00000">
                <a:tc rowSpan="5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b="1" lang="en-US" sz="2000" u="none" cap="none" strike="noStrike">
                          <a:solidFill>
                            <a:srgbClr val="355286"/>
                          </a:solidFill>
                        </a:rPr>
                        <a:t>Toma de pedidos</a:t>
                      </a:r>
                      <a:endParaRPr b="1"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taller, quiero registrar los pedidos de los clientes, para mantener un control organizado de los trabajos solicitados.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taller, quiero poder consultar los pedidos registrados y sus detalles, para acceder fácilmente a la información de cada trabajo cuando la necesite.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taller, quiero mantener un registro de los pedidos realizados, para contar con un respaldo de los detalles acordados con cada cliente y evitar la pérdida de información.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taller, quiero poder actualizar el estado de los pedidos, para saber qué trabajos están pendientes, en proceso o terminados y así llevar un mejor control de las tareas del taller.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just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lang="en-US" sz="2000" u="none" cap="none" strike="noStrike">
                          <a:solidFill>
                            <a:srgbClr val="355286"/>
                          </a:solidFill>
                        </a:rPr>
                        <a:t>Como Jefa de taller, quiero poder registrar un tipo de prenda para poder mantener los catálogos organizados.</a:t>
                      </a:r>
                      <a:endParaRPr sz="2000" u="none" cap="none" strike="noStrike">
                        <a:solidFill>
                          <a:srgbClr val="355286"/>
                        </a:solidFill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9E9E9E"/>
                      </a:solidFill>
                      <a:prstDash val="dash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"/>
          <p:cNvSpPr txBox="1"/>
          <p:nvPr/>
        </p:nvSpPr>
        <p:spPr>
          <a:xfrm>
            <a:off x="1028700" y="622005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6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A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rquitectura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9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83" name="Google Shape;18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37287" y="1945600"/>
            <a:ext cx="8213438" cy="8175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h25087c69b7368f04_0_0"/>
          <p:cNvSpPr txBox="1"/>
          <p:nvPr/>
        </p:nvSpPr>
        <p:spPr>
          <a:xfrm>
            <a:off x="1028700" y="622005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7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Modelo de datos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h25087c69b7368f04_0_0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90" name="Google Shape;190;h25087c69b7368f04_0_0" title="supabase-schema-skfrensubuiglhlsbvqx2.png"/>
          <p:cNvPicPr preferRelativeResize="0"/>
          <p:nvPr/>
        </p:nvPicPr>
        <p:blipFill rotWithShape="1">
          <a:blip r:embed="rId3">
            <a:alphaModFix/>
          </a:blip>
          <a:srcRect b="9679" l="12443" r="22030" t="12330"/>
          <a:stretch/>
        </p:blipFill>
        <p:spPr>
          <a:xfrm>
            <a:off x="1935162" y="1730200"/>
            <a:ext cx="14417677" cy="8390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5" name="Google Shape;195;p10" title="WhatsApp Image 2026-08-30 at 14.25.19 (1)(1).jpeg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>
            <a:off x="10572747" y="-5"/>
            <a:ext cx="7715258" cy="10287000"/>
          </a:xfrm>
          <a:prstGeom prst="rect">
            <a:avLst/>
          </a:prstGeom>
          <a:noFill/>
          <a:ln>
            <a:noFill/>
          </a:ln>
          <a:effectLst>
            <a:outerShdw blurRad="142875" rotWithShape="0" algn="bl" dir="5400000" dist="9525">
              <a:srgbClr val="000000">
                <a:alpha val="50196"/>
              </a:srgbClr>
            </a:outerShdw>
          </a:effectLst>
        </p:spPr>
      </p:pic>
      <p:sp>
        <p:nvSpPr>
          <p:cNvPr id="196" name="Google Shape;196;p10"/>
          <p:cNvSpPr txBox="1"/>
          <p:nvPr/>
        </p:nvSpPr>
        <p:spPr>
          <a:xfrm>
            <a:off x="498575" y="911525"/>
            <a:ext cx="95064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8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M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etodología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935900" y="2727050"/>
            <a:ext cx="8927100" cy="68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Char char="●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Scrum como metodología principal de desarrollo de ágil que divide grandes tareas en pequeñas partes en ciclos cortos.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55286"/>
              </a:buClr>
              <a:buSzPts val="3000"/>
              <a:buFont typeface="Arial"/>
              <a:buChar char="●"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Kanban para la gestión del estado y visualización de las tareas del proyecto.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Esta combinación permitirá desarrollar el sistema de manera incremental y mantener un seguimiento constante del avance para adaptarse a los cambios o nuevas necesidades que puedan surgir durante el desarrollo.</a:t>
            </a:r>
            <a:endParaRPr b="0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0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199" name="Google Shape;19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012025" y="5547175"/>
            <a:ext cx="3528324" cy="3528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775250" y="1477850"/>
            <a:ext cx="4495800" cy="449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9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Roles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6" name="Google Shape;206;p11"/>
          <p:cNvGrpSpPr/>
          <p:nvPr/>
        </p:nvGrpSpPr>
        <p:grpSpPr>
          <a:xfrm>
            <a:off x="1557794" y="3000213"/>
            <a:ext cx="3086400" cy="4286575"/>
            <a:chOff x="1727238" y="3000213"/>
            <a:chExt cx="3086400" cy="4286575"/>
          </a:xfrm>
        </p:grpSpPr>
        <p:pic>
          <p:nvPicPr>
            <p:cNvPr id="207" name="Google Shape;207;p11" title="WhatsApp Image 2026-08-25 at 13.30.26.jpeg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27238" y="3000213"/>
              <a:ext cx="3086400" cy="3086400"/>
            </a:xfrm>
            <a:prstGeom prst="ellipse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208" name="Google Shape;208;p11"/>
            <p:cNvSpPr txBox="1"/>
            <p:nvPr/>
          </p:nvSpPr>
          <p:spPr>
            <a:xfrm>
              <a:off x="1776738" y="6178588"/>
              <a:ext cx="29874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Product Owner</a:t>
              </a:r>
              <a:endParaRPr b="1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0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Carolina Palma</a:t>
              </a:r>
              <a:endParaRPr b="0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9" name="Google Shape;209;p11"/>
          <p:cNvGrpSpPr/>
          <p:nvPr/>
        </p:nvGrpSpPr>
        <p:grpSpPr>
          <a:xfrm>
            <a:off x="5405760" y="3000213"/>
            <a:ext cx="3165300" cy="4284775"/>
            <a:chOff x="5703838" y="3000213"/>
            <a:chExt cx="3165300" cy="4284775"/>
          </a:xfrm>
        </p:grpSpPr>
        <p:sp>
          <p:nvSpPr>
            <p:cNvPr id="210" name="Google Shape;210;p11"/>
            <p:cNvSpPr txBox="1"/>
            <p:nvPr/>
          </p:nvSpPr>
          <p:spPr>
            <a:xfrm>
              <a:off x="5703838" y="6176788"/>
              <a:ext cx="31653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Scrum Master</a:t>
              </a:r>
              <a:endParaRPr b="1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0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Matías González</a:t>
              </a:r>
              <a:endParaRPr b="0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11" name="Google Shape;211;p11" title="ChatGPT Image 20 jul 2026, 07_34_53 p.m..png"/>
            <p:cNvPicPr preferRelativeResize="0"/>
            <p:nvPr/>
          </p:nvPicPr>
          <p:blipFill rotWithShape="1">
            <a:blip r:embed="rId4">
              <a:alphaModFix/>
            </a:blip>
            <a:srcRect b="16227" l="5015" r="0" t="11236"/>
            <a:stretch/>
          </p:blipFill>
          <p:spPr>
            <a:xfrm>
              <a:off x="5703838" y="3000213"/>
              <a:ext cx="2987400" cy="3082800"/>
            </a:xfrm>
            <a:prstGeom prst="ellipse">
              <a:avLst/>
            </a:prstGeom>
            <a:noFill/>
            <a:ln cap="flat" cmpd="sng" w="1905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</p:pic>
      </p:grpSp>
      <p:grpSp>
        <p:nvGrpSpPr>
          <p:cNvPr id="212" name="Google Shape;212;p11"/>
          <p:cNvGrpSpPr/>
          <p:nvPr/>
        </p:nvGrpSpPr>
        <p:grpSpPr>
          <a:xfrm>
            <a:off x="13564894" y="2991013"/>
            <a:ext cx="3165312" cy="4295775"/>
            <a:chOff x="13734338" y="2991013"/>
            <a:chExt cx="3165312" cy="4295775"/>
          </a:xfrm>
        </p:grpSpPr>
        <p:sp>
          <p:nvSpPr>
            <p:cNvPr id="213" name="Google Shape;213;p11"/>
            <p:cNvSpPr txBox="1"/>
            <p:nvPr/>
          </p:nvSpPr>
          <p:spPr>
            <a:xfrm>
              <a:off x="13734338" y="6178588"/>
              <a:ext cx="31653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Developer</a:t>
              </a:r>
              <a:endParaRPr b="1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0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Jean Leyton</a:t>
              </a:r>
              <a:endParaRPr b="0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14" name="Google Shape;214;p11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3734350" y="2991013"/>
              <a:ext cx="3165300" cy="3101100"/>
            </a:xfrm>
            <a:prstGeom prst="ellipse">
              <a:avLst/>
            </a:prstGeom>
            <a:noFill/>
            <a:ln>
              <a:noFill/>
            </a:ln>
          </p:spPr>
        </p:pic>
      </p:grpSp>
      <p:grpSp>
        <p:nvGrpSpPr>
          <p:cNvPr id="215" name="Google Shape;215;p11"/>
          <p:cNvGrpSpPr/>
          <p:nvPr/>
        </p:nvGrpSpPr>
        <p:grpSpPr>
          <a:xfrm>
            <a:off x="9332627" y="3077374"/>
            <a:ext cx="3470700" cy="4209414"/>
            <a:chOff x="9566388" y="3077374"/>
            <a:chExt cx="3470700" cy="4209414"/>
          </a:xfrm>
        </p:grpSpPr>
        <p:sp>
          <p:nvSpPr>
            <p:cNvPr id="216" name="Google Shape;216;p11"/>
            <p:cNvSpPr txBox="1"/>
            <p:nvPr/>
          </p:nvSpPr>
          <p:spPr>
            <a:xfrm>
              <a:off x="9566388" y="6178588"/>
              <a:ext cx="3470700" cy="110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1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Developer</a:t>
              </a:r>
              <a:endParaRPr b="1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0"/>
                <a:buFont typeface="Arial"/>
                <a:buNone/>
              </a:pPr>
              <a:r>
                <a:rPr b="0" i="0" lang="en-US" sz="3000" u="none" cap="none" strike="noStrike">
                  <a:solidFill>
                    <a:schemeClr val="dk2"/>
                  </a:solidFill>
                  <a:latin typeface="Arial"/>
                  <a:ea typeface="Arial"/>
                  <a:cs typeface="Arial"/>
                  <a:sym typeface="Arial"/>
                </a:rPr>
                <a:t>Smolenks Aravena</a:t>
              </a:r>
              <a:endParaRPr b="0" i="0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17" name="Google Shape;217;p11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9758550" y="3077374"/>
              <a:ext cx="3086400" cy="3101100"/>
            </a:xfrm>
            <a:prstGeom prst="ellipse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11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g3f8addd4091_0_22" title="WhatsApp Image 2026-08-30 at 14.25.19 (2).jpe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5474100" cy="7299000"/>
          </a:xfrm>
          <a:prstGeom prst="diagStripe">
            <a:avLst>
              <a:gd fmla="val 50000" name="adj"/>
            </a:avLst>
          </a:prstGeom>
          <a:noFill/>
          <a:ln>
            <a:noFill/>
          </a:ln>
          <a:effectLst>
            <a:outerShdw blurRad="142875" rotWithShape="0" algn="bl" dir="5400000" dist="9525">
              <a:srgbClr val="000000">
                <a:alpha val="50196"/>
              </a:srgbClr>
            </a:outerShdw>
          </a:effectLst>
        </p:spPr>
      </p:pic>
      <p:sp>
        <p:nvSpPr>
          <p:cNvPr id="224" name="Google Shape;224;g3f8addd4091_0_22"/>
          <p:cNvSpPr txBox="1"/>
          <p:nvPr/>
        </p:nvSpPr>
        <p:spPr>
          <a:xfrm>
            <a:off x="1028700" y="45968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E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videncias</a:t>
            </a:r>
            <a:endParaRPr b="0" i="0" sz="7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g3f8addd4091_0_22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26" name="Google Shape;226;g3f8addd4091_0_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0450262" y="-2"/>
            <a:ext cx="1110801" cy="1110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g3f8addd4091_0_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62533" y="4430976"/>
            <a:ext cx="1090175" cy="109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g3f8addd4091_0_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62533" y="6955888"/>
            <a:ext cx="1090175" cy="109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g3f8addd4091_0_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0783780" y="2550352"/>
            <a:ext cx="1110801" cy="11107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3f8addd4091_0_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291619" y="7260612"/>
            <a:ext cx="981340" cy="981362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3f8addd4091_0_22"/>
          <p:cNvSpPr txBox="1"/>
          <p:nvPr/>
        </p:nvSpPr>
        <p:spPr>
          <a:xfrm>
            <a:off x="19024312" y="1165350"/>
            <a:ext cx="3962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Sprint Retr</a:t>
            </a: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o</a:t>
            </a: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spective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g3f8addd4091_0_22"/>
          <p:cNvSpPr txBox="1"/>
          <p:nvPr/>
        </p:nvSpPr>
        <p:spPr>
          <a:xfrm>
            <a:off x="4784068" y="5536613"/>
            <a:ext cx="3047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Tablero Kanban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g3f8addd4091_0_22"/>
          <p:cNvSpPr txBox="1"/>
          <p:nvPr/>
        </p:nvSpPr>
        <p:spPr>
          <a:xfrm>
            <a:off x="4257568" y="8125038"/>
            <a:ext cx="4100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Impediment Backlog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g3f8addd4091_0_22"/>
          <p:cNvSpPr txBox="1"/>
          <p:nvPr/>
        </p:nvSpPr>
        <p:spPr>
          <a:xfrm>
            <a:off x="18800280" y="3661125"/>
            <a:ext cx="5077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Sistema de gestión interna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g3f8addd4091_0_22"/>
          <p:cNvSpPr txBox="1"/>
          <p:nvPr/>
        </p:nvSpPr>
        <p:spPr>
          <a:xfrm>
            <a:off x="10575138" y="8307513"/>
            <a:ext cx="26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355286"/>
                </a:solidFill>
              </a:rPr>
              <a:t>Cronograma</a:t>
            </a:r>
            <a:endParaRPr b="1" sz="3000">
              <a:solidFill>
                <a:srgbClr val="355286"/>
              </a:solidFill>
            </a:endParaRPr>
          </a:p>
        </p:txBody>
      </p:sp>
      <p:sp>
        <p:nvSpPr>
          <p:cNvPr id="236" name="Google Shape;236;g3f8addd4091_0_22"/>
          <p:cNvSpPr txBox="1"/>
          <p:nvPr/>
        </p:nvSpPr>
        <p:spPr>
          <a:xfrm>
            <a:off x="18659655" y="8032963"/>
            <a:ext cx="46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Documento de RF y RNF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7" name="Google Shape;237;g3f8addd4091_0_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0569430" y="6955896"/>
            <a:ext cx="981325" cy="1077079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g3f8addd4091_0_22"/>
          <p:cNvSpPr txBox="1"/>
          <p:nvPr/>
        </p:nvSpPr>
        <p:spPr>
          <a:xfrm>
            <a:off x="10169825" y="3569513"/>
            <a:ext cx="329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Burndown Chart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g3f8addd4091_0_22"/>
          <p:cNvSpPr txBox="1"/>
          <p:nvPr/>
        </p:nvSpPr>
        <p:spPr>
          <a:xfrm>
            <a:off x="3838155" y="3403387"/>
            <a:ext cx="5077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355286"/>
                </a:solidFill>
              </a:rPr>
              <a:t>Sprint Backlog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g3f8addd4091_0_22"/>
          <p:cNvSpPr txBox="1"/>
          <p:nvPr/>
        </p:nvSpPr>
        <p:spPr>
          <a:xfrm>
            <a:off x="9470830" y="5919800"/>
            <a:ext cx="46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355286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 b="1" i="0" sz="3000" u="none" cap="none" strike="noStrike">
              <a:solidFill>
                <a:srgbClr val="35528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1" name="Google Shape;241;g3f8addd4091_0_2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275325" y="2516000"/>
            <a:ext cx="981350" cy="981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g3f8addd4091_0_2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1275525" y="4765050"/>
            <a:ext cx="1227850" cy="1227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g3f8addd4091_0_22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752188" y="2271534"/>
            <a:ext cx="1110825" cy="111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h25087c69b7368f04_1_16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.1.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Sprint Backlog - 1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249" name="Google Shape;249;h25087c69b7368f04_1_16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50" name="Google Shape;250;h25087c69b7368f04_1_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4400" y="1905965"/>
            <a:ext cx="14799200" cy="7093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h502025bf553c5436_0_3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.1.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Sprint Backlog - 2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256" name="Google Shape;256;h502025bf553c5436_0_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57" name="Google Shape;257;h502025bf553c5436_0_3"/>
          <p:cNvPicPr preferRelativeResize="0"/>
          <p:nvPr/>
        </p:nvPicPr>
        <p:blipFill rotWithShape="1">
          <a:blip r:embed="rId3">
            <a:alphaModFix/>
          </a:blip>
          <a:srcRect b="1078" l="0" r="0" t="0"/>
          <a:stretch/>
        </p:blipFill>
        <p:spPr>
          <a:xfrm>
            <a:off x="2600101" y="1837275"/>
            <a:ext cx="13087801" cy="745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h25087c69b7368f04_1_77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2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Kanban Board - Sprint 0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263" name="Google Shape;263;h25087c69b7368f04_1_77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64" name="Google Shape;264;h25087c69b7368f04_1_77"/>
          <p:cNvPicPr preferRelativeResize="0"/>
          <p:nvPr/>
        </p:nvPicPr>
        <p:blipFill rotWithShape="1">
          <a:blip r:embed="rId3">
            <a:alphaModFix/>
          </a:blip>
          <a:srcRect b="50586" l="67836" r="0" t="0"/>
          <a:stretch/>
        </p:blipFill>
        <p:spPr>
          <a:xfrm>
            <a:off x="4629450" y="2058675"/>
            <a:ext cx="4724331" cy="6428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h25087c69b7368f04_1_77"/>
          <p:cNvPicPr preferRelativeResize="0"/>
          <p:nvPr/>
        </p:nvPicPr>
        <p:blipFill rotWithShape="1">
          <a:blip r:embed="rId3">
            <a:alphaModFix/>
          </a:blip>
          <a:srcRect b="0" l="67648" r="0" t="49413"/>
          <a:stretch/>
        </p:blipFill>
        <p:spPr>
          <a:xfrm>
            <a:off x="9353769" y="2525403"/>
            <a:ext cx="4304781" cy="59617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h25087c69b7368f04_1_33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2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Kanban Board - Sprint 1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271" name="Google Shape;271;h25087c69b7368f04_1_3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72" name="Google Shape;272;h25087c69b7368f04_1_33"/>
          <p:cNvPicPr preferRelativeResize="0"/>
          <p:nvPr/>
        </p:nvPicPr>
        <p:blipFill rotWithShape="1">
          <a:blip r:embed="rId3">
            <a:alphaModFix/>
          </a:blip>
          <a:srcRect b="39401" l="67015" r="0" t="0"/>
          <a:stretch/>
        </p:blipFill>
        <p:spPr>
          <a:xfrm>
            <a:off x="4702899" y="1747475"/>
            <a:ext cx="4102324" cy="8115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h25087c69b7368f04_1_33"/>
          <p:cNvPicPr preferRelativeResize="0"/>
          <p:nvPr/>
        </p:nvPicPr>
        <p:blipFill rotWithShape="1">
          <a:blip r:embed="rId4">
            <a:alphaModFix/>
          </a:blip>
          <a:srcRect b="0" l="66766" r="0" t="39632"/>
          <a:stretch/>
        </p:blipFill>
        <p:spPr>
          <a:xfrm>
            <a:off x="8805225" y="2224225"/>
            <a:ext cx="4779876" cy="7381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h25087c69b7368f04_1_69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2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Kanban Board - Sprint 2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279" name="Google Shape;279;h25087c69b7368f04_1_69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80" name="Google Shape;280;h25087c69b7368f04_1_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46675" y="1747476"/>
            <a:ext cx="11594651" cy="837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h25087c69b7368f04_1_38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3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Impediment Log - Sprint 1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286" name="Google Shape;286;h25087c69b7368f04_1_38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87" name="Google Shape;287;h25087c69b7368f04_1_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0875" y="2340250"/>
            <a:ext cx="17186249" cy="5606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h25087c69b7368f04_1_43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4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Burndown Chart - Sprint 0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293" name="Google Shape;293;h25087c69b7368f04_1_4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294" name="Google Shape;294;h25087c69b7368f04_1_43" title="Chart"/>
          <p:cNvPicPr preferRelativeResize="0"/>
          <p:nvPr/>
        </p:nvPicPr>
        <p:blipFill rotWithShape="1">
          <a:blip r:embed="rId3">
            <a:alphaModFix/>
          </a:blip>
          <a:srcRect b="0" l="0" r="0" t="11418"/>
          <a:stretch/>
        </p:blipFill>
        <p:spPr>
          <a:xfrm>
            <a:off x="2174713" y="2052275"/>
            <a:ext cx="13938576" cy="7634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25087c69b7368f04_1_90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4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Burndown Chart - Sprint 1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00" name="Google Shape;300;h25087c69b7368f04_1_90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301" name="Google Shape;301;h25087c69b7368f04_1_90" title="Chart"/>
          <p:cNvPicPr preferRelativeResize="0"/>
          <p:nvPr/>
        </p:nvPicPr>
        <p:blipFill rotWithShape="1">
          <a:blip r:embed="rId3">
            <a:alphaModFix/>
          </a:blip>
          <a:srcRect b="0" l="0" r="0" t="11087"/>
          <a:stretch/>
        </p:blipFill>
        <p:spPr>
          <a:xfrm>
            <a:off x="2200713" y="2052271"/>
            <a:ext cx="13886571" cy="7634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h25087c69b7368f04_1_95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4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Burndown Chart - Sprint 2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07" name="Google Shape;307;h25087c69b7368f04_1_95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308" name="Google Shape;308;h25087c69b7368f04_1_95" title="Chart"/>
          <p:cNvPicPr preferRelativeResize="0"/>
          <p:nvPr/>
        </p:nvPicPr>
        <p:blipFill rotWithShape="1">
          <a:blip r:embed="rId3">
            <a:alphaModFix/>
          </a:blip>
          <a:srcRect b="0" l="0" r="0" t="11087"/>
          <a:stretch/>
        </p:blipFill>
        <p:spPr>
          <a:xfrm>
            <a:off x="2200725" y="2052275"/>
            <a:ext cx="13886562" cy="7634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h25087c69b7368f04_1_48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0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5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Sprint Review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14" name="Google Shape;314;h25087c69b7368f04_1_48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315" name="Google Shape;315;h25087c69b7368f04_1_48"/>
          <p:cNvPicPr preferRelativeResize="0"/>
          <p:nvPr/>
        </p:nvPicPr>
        <p:blipFill rotWithShape="1">
          <a:blip r:embed="rId3">
            <a:alphaModFix/>
          </a:blip>
          <a:srcRect b="22754" l="1027" r="11169" t="6907"/>
          <a:stretch/>
        </p:blipFill>
        <p:spPr>
          <a:xfrm>
            <a:off x="401925" y="2326659"/>
            <a:ext cx="17484149" cy="37368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h25087c69b7368f04_1_48"/>
          <p:cNvPicPr preferRelativeResize="0"/>
          <p:nvPr/>
        </p:nvPicPr>
        <p:blipFill rotWithShape="1">
          <a:blip r:embed="rId4">
            <a:alphaModFix/>
          </a:blip>
          <a:srcRect b="18864" l="0" r="19775" t="58800"/>
          <a:stretch/>
        </p:blipFill>
        <p:spPr>
          <a:xfrm>
            <a:off x="401925" y="6406100"/>
            <a:ext cx="17484151" cy="14997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25087c69b7368f04_1_53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Cronograma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22" name="Google Shape;322;h25087c69b7368f04_1_5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pic>
        <p:nvPicPr>
          <p:cNvPr id="323" name="Google Shape;323;h25087c69b7368f04_1_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69975" y="1747487"/>
            <a:ext cx="14148050" cy="803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h25087c69b7368f04_1_63"/>
          <p:cNvPicPr preferRelativeResize="0"/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2464855" y="1735425"/>
            <a:ext cx="13358272" cy="8019576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h25087c69b7368f04_1_63"/>
          <p:cNvSpPr txBox="1"/>
          <p:nvPr/>
        </p:nvSpPr>
        <p:spPr>
          <a:xfrm>
            <a:off x="886669" y="63926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0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2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Demo</a:t>
            </a:r>
            <a:endParaRPr sz="7200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30" name="Google Shape;330;h25087c69b7368f04_1_63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sp>
        <p:nvSpPr>
          <p:cNvPr id="331" name="Google Shape;331;h25087c69b7368f04_1_63"/>
          <p:cNvSpPr txBox="1"/>
          <p:nvPr/>
        </p:nvSpPr>
        <p:spPr>
          <a:xfrm>
            <a:off x="886675" y="639275"/>
            <a:ext cx="4469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 u="sng">
                <a:solidFill>
                  <a:schemeClr val="hlink"/>
                </a:solidFill>
                <a:highlight>
                  <a:srgbClr val="FFFF00"/>
                </a:highlight>
                <a:hlinkClick r:id="rId4"/>
              </a:rPr>
              <a:t>Plataforma de Gestión</a:t>
            </a:r>
            <a:endParaRPr b="1" sz="3000">
              <a:solidFill>
                <a:schemeClr val="accent1"/>
              </a:solidFill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h502025bf553c5436_0_10" title="WhatsApp Image 2026-08-30 at 14.25.19 (2)(1).jpeg"/>
          <p:cNvPicPr preferRelativeResize="0"/>
          <p:nvPr/>
        </p:nvPicPr>
        <p:blipFill rotWithShape="1">
          <a:blip r:embed="rId3">
            <a:alphaModFix amt="90000"/>
          </a:blip>
          <a:srcRect b="27174" l="0" r="0" t="44701"/>
          <a:stretch/>
        </p:blipFill>
        <p:spPr>
          <a:xfrm>
            <a:off x="5838575" y="4960575"/>
            <a:ext cx="12449700" cy="5326500"/>
          </a:xfrm>
          <a:prstGeom prst="triangle">
            <a:avLst>
              <a:gd fmla="val 100000" name="adj"/>
            </a:avLst>
          </a:prstGeom>
          <a:noFill/>
          <a:ln>
            <a:noFill/>
          </a:ln>
          <a:effectLst>
            <a:outerShdw blurRad="385763" rotWithShape="0" algn="bl" dir="9360000" dist="133350">
              <a:srgbClr val="000000">
                <a:alpha val="40000"/>
              </a:srgbClr>
            </a:outerShdw>
          </a:effectLst>
        </p:spPr>
      </p:pic>
      <p:sp>
        <p:nvSpPr>
          <p:cNvPr id="337" name="Google Shape;337;h502025bf553c5436_0_10"/>
          <p:cNvSpPr txBox="1"/>
          <p:nvPr/>
        </p:nvSpPr>
        <p:spPr>
          <a:xfrm>
            <a:off x="1028700" y="45968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8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3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Conclusiones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 Y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Próximos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 Pasos</a:t>
            </a:r>
            <a:endParaRPr b="0" i="0" sz="7200" u="none" cap="none" strike="noStrike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38" name="Google Shape;338;h502025bf553c5436_0_10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80000"/>
              </a:srgbClr>
            </a:outerShdw>
          </a:effectLst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chemeClr val="lt1"/>
                </a:solidFill>
              </a:rPr>
              <a:t>‹#›</a:t>
            </a:fld>
            <a:r>
              <a:rPr b="1" lang="en-US" sz="2400">
                <a:solidFill>
                  <a:schemeClr val="lt1"/>
                </a:solidFill>
              </a:rPr>
              <a:t> / 29</a:t>
            </a:r>
            <a:endParaRPr b="1" sz="2400">
              <a:solidFill>
                <a:schemeClr val="lt1"/>
              </a:solidFill>
            </a:endParaRPr>
          </a:p>
        </p:txBody>
      </p:sp>
      <p:sp>
        <p:nvSpPr>
          <p:cNvPr id="339" name="Google Shape;339;h502025bf553c5436_0_10"/>
          <p:cNvSpPr txBox="1"/>
          <p:nvPr/>
        </p:nvSpPr>
        <p:spPr>
          <a:xfrm>
            <a:off x="1028700" y="2361200"/>
            <a:ext cx="6448800" cy="483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355286"/>
                </a:solidFill>
              </a:rPr>
              <a:t>Continuar con el Sprint 2.</a:t>
            </a:r>
            <a:endParaRPr b="1" sz="3000">
              <a:solidFill>
                <a:srgbClr val="355286"/>
              </a:solidFill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55286"/>
              </a:buClr>
              <a:buSzPts val="3000"/>
              <a:buChar char="●"/>
            </a:pPr>
            <a:r>
              <a:rPr lang="en-US" sz="3000">
                <a:solidFill>
                  <a:srgbClr val="355286"/>
                </a:solidFill>
              </a:rPr>
              <a:t>Desarrollo backend funcionalidad registro pedidos (Mejora).</a:t>
            </a:r>
            <a:endParaRPr sz="3000">
              <a:solidFill>
                <a:srgbClr val="355286"/>
              </a:solidFill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Char char="●"/>
            </a:pPr>
            <a:r>
              <a:rPr lang="en-US" sz="3000">
                <a:solidFill>
                  <a:srgbClr val="355286"/>
                </a:solidFill>
              </a:rPr>
              <a:t>Desarrollo de registro y asignación de labores por trabajador.</a:t>
            </a:r>
            <a:endParaRPr sz="3000">
              <a:solidFill>
                <a:srgbClr val="355286"/>
              </a:solidFill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Char char="●"/>
            </a:pPr>
            <a:r>
              <a:rPr lang="en-US" sz="3000">
                <a:solidFill>
                  <a:srgbClr val="355286"/>
                </a:solidFill>
              </a:rPr>
              <a:t>Implementación de trazabilidad de operario por prenda.</a:t>
            </a:r>
            <a:endParaRPr sz="3000">
              <a:solidFill>
                <a:srgbClr val="355286"/>
              </a:solidFill>
            </a:endParaRPr>
          </a:p>
          <a:p>
            <a:pPr indent="-419100" lvl="0" marL="45720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55286"/>
              </a:buClr>
              <a:buSzPts val="3000"/>
              <a:buChar char="●"/>
            </a:pPr>
            <a:r>
              <a:rPr lang="en-US" sz="3000">
                <a:solidFill>
                  <a:srgbClr val="355286"/>
                </a:solidFill>
              </a:rPr>
              <a:t>Implementación de trazabilidad de cortadora por prenda.</a:t>
            </a:r>
            <a:endParaRPr sz="3000">
              <a:solidFill>
                <a:srgbClr val="355286"/>
              </a:solidFill>
            </a:endParaRPr>
          </a:p>
        </p:txBody>
      </p:sp>
      <p:sp>
        <p:nvSpPr>
          <p:cNvPr id="340" name="Google Shape;340;h502025bf553c5436_0_10"/>
          <p:cNvSpPr/>
          <p:nvPr/>
        </p:nvSpPr>
        <p:spPr>
          <a:xfrm>
            <a:off x="9693562" y="2811102"/>
            <a:ext cx="3586423" cy="3422576"/>
          </a:xfrm>
          <a:custGeom>
            <a:rect b="b" l="l" r="r" t="t"/>
            <a:pathLst>
              <a:path extrusionOk="0" h="7282077" w="7282077">
                <a:moveTo>
                  <a:pt x="0" y="0"/>
                </a:moveTo>
                <a:lnTo>
                  <a:pt x="7282077" y="0"/>
                </a:lnTo>
                <a:lnTo>
                  <a:pt x="7282077" y="7282076"/>
                </a:lnTo>
                <a:lnTo>
                  <a:pt x="0" y="72820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57150" rotWithShape="0" algn="bl" dir="5400000" dist="19050">
              <a:srgbClr val="000000">
                <a:alpha val="50200"/>
              </a:srgbClr>
            </a:outerShdw>
          </a:effectLst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5" name="Google Shape;345;g3f8addd4091_0_26" title="WhatsApp Image 2026-08-30 at 14.25.19 (2)(1).jpeg"/>
          <p:cNvPicPr preferRelativeResize="0"/>
          <p:nvPr/>
        </p:nvPicPr>
        <p:blipFill rotWithShape="1">
          <a:blip r:embed="rId3">
            <a:alphaModFix amt="20000"/>
          </a:blip>
          <a:srcRect b="27172" l="0" r="0" t="44703"/>
          <a:stretch/>
        </p:blipFill>
        <p:spPr>
          <a:xfrm>
            <a:off x="0" y="3428999"/>
            <a:ext cx="18288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g3f8addd4091_0_26"/>
          <p:cNvSpPr txBox="1"/>
          <p:nvPr/>
        </p:nvSpPr>
        <p:spPr>
          <a:xfrm>
            <a:off x="1028700" y="459684"/>
            <a:ext cx="162306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08"/>
              <a:buFont typeface="Arial"/>
              <a:buNone/>
            </a:pP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1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4</a:t>
            </a:r>
            <a:r>
              <a:rPr b="0" i="0" lang="en-US" sz="7200" u="none" cap="none" strike="noStrike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. </a:t>
            </a:r>
            <a:r>
              <a:rPr lang="en-US" sz="7200">
                <a:solidFill>
                  <a:srgbClr val="355286"/>
                </a:solidFill>
                <a:latin typeface="Fredoka"/>
                <a:ea typeface="Fredoka"/>
                <a:cs typeface="Fredoka"/>
                <a:sym typeface="Fredoka"/>
              </a:rPr>
              <a:t>Reflexión Final</a:t>
            </a:r>
            <a:endParaRPr b="0" i="0" sz="7200" u="none" cap="none" strike="noStrike">
              <a:solidFill>
                <a:srgbClr val="355286"/>
              </a:solidFill>
              <a:latin typeface="Fredoka"/>
              <a:ea typeface="Fredoka"/>
              <a:cs typeface="Fredoka"/>
              <a:sym typeface="Fredoka"/>
            </a:endParaRPr>
          </a:p>
        </p:txBody>
      </p:sp>
      <p:sp>
        <p:nvSpPr>
          <p:cNvPr id="347" name="Google Shape;347;g3f8addd4091_0_26"/>
          <p:cNvSpPr txBox="1"/>
          <p:nvPr>
            <p:ph idx="12" type="sldNum"/>
          </p:nvPr>
        </p:nvSpPr>
        <p:spPr>
          <a:xfrm>
            <a:off x="15804175" y="9381925"/>
            <a:ext cx="2133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fld id="{00000000-1234-1234-1234-123412341234}" type="slidenum">
              <a:rPr b="1" lang="en-US" sz="2400">
                <a:solidFill>
                  <a:srgbClr val="355286"/>
                </a:solidFill>
              </a:rPr>
              <a:t>‹#›</a:t>
            </a:fld>
            <a:r>
              <a:rPr b="1" lang="en-US" sz="2400">
                <a:solidFill>
                  <a:srgbClr val="355286"/>
                </a:solidFill>
              </a:rPr>
              <a:t> / 29</a:t>
            </a:r>
            <a:endParaRPr b="1" sz="2400">
              <a:solidFill>
                <a:srgbClr val="355286"/>
              </a:solidFill>
            </a:endParaRPr>
          </a:p>
        </p:txBody>
      </p:sp>
      <p:sp>
        <p:nvSpPr>
          <p:cNvPr id="348" name="Google Shape;348;g3f8addd4091_0_26"/>
          <p:cNvSpPr txBox="1"/>
          <p:nvPr/>
        </p:nvSpPr>
        <p:spPr>
          <a:xfrm>
            <a:off x="7065544" y="6463300"/>
            <a:ext cx="4572000" cy="16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355286"/>
                </a:solidFill>
                <a:highlight>
                  <a:schemeClr val="lt1"/>
                </a:highlight>
              </a:rPr>
              <a:t>Importancia de ponerse en el lugar del cliente…</a:t>
            </a:r>
            <a:endParaRPr b="1" i="0" sz="3000" u="none" cap="none" strike="noStrike">
              <a:solidFill>
                <a:srgbClr val="355286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-Matias Gonzalez</a:t>
            </a:r>
            <a:endParaRPr b="0" i="0" sz="3000" u="none" cap="none" strike="noStrike">
              <a:solidFill>
                <a:srgbClr val="355286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g3f8addd4091_0_26"/>
          <p:cNvSpPr txBox="1"/>
          <p:nvPr/>
        </p:nvSpPr>
        <p:spPr>
          <a:xfrm>
            <a:off x="12549125" y="6463300"/>
            <a:ext cx="4497600" cy="27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355286"/>
                </a:solidFill>
                <a:highlight>
                  <a:schemeClr val="lt1"/>
                </a:highlight>
              </a:rPr>
              <a:t>Aplicar todos los conocimientos durante el transcurso de la carrera</a:t>
            </a:r>
            <a:r>
              <a:rPr b="1" i="0" lang="en-US" sz="3000" u="none" cap="none" strike="noStrike">
                <a:solidFill>
                  <a:srgbClr val="355286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…</a:t>
            </a:r>
            <a:endParaRPr b="1" i="0" sz="3000" u="none" cap="none" strike="noStrike">
              <a:solidFill>
                <a:srgbClr val="355286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-Jean Leyton</a:t>
            </a:r>
            <a:endParaRPr b="0" i="0" sz="3000" u="none" cap="none" strike="noStrike">
              <a:solidFill>
                <a:srgbClr val="355286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g3f8addd4091_0_26"/>
          <p:cNvSpPr txBox="1"/>
          <p:nvPr/>
        </p:nvSpPr>
        <p:spPr>
          <a:xfrm>
            <a:off x="1581963" y="6463300"/>
            <a:ext cx="4572000" cy="16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lang="en-US" sz="3000">
                <a:solidFill>
                  <a:srgbClr val="355286"/>
                </a:solidFill>
                <a:highlight>
                  <a:schemeClr val="lt1"/>
                </a:highlight>
              </a:rPr>
              <a:t>Organizar y definir metas especificas…</a:t>
            </a:r>
            <a:endParaRPr b="1" i="0" sz="3000" u="none" cap="none" strike="noStrike">
              <a:solidFill>
                <a:srgbClr val="355286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355286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-Smolenks Aravena</a:t>
            </a:r>
            <a:endParaRPr b="0" i="0" sz="3000" u="none" cap="none" strike="noStrike">
              <a:solidFill>
                <a:srgbClr val="355286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