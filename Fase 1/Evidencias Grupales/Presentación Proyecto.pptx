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Fredoka" panose="020B0604020202020204" charset="-79"/>
      <p:regular r:id="rId20"/>
      <p:bold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Raleway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jfK7KxBK2Orl7UCWDp/pPSK4lg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E09CD25-D34A-443F-A57C-1B455804B1C0}">
  <a:tblStyle styleId="{BE09CD25-D34A-443F-A57C-1B455804B1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59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8aea27e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3f8aea27e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8addd409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f8addd409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8addd409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f8addd409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8aea27ec5_3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f8aea27ec5_3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289fd54d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3fa289fd54d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8addd4091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f8addd4091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8addd409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f8addd409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8aea27ec5_2_743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g3f8aea27ec5_2_743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12" name="Google Shape;12;g3f8aea27ec5_2_7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g3f8aea27ec5_2_74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g3f8aea27ec5_2_743"/>
          <p:cNvSpPr txBox="1">
            <a:spLocks noGrp="1"/>
          </p:cNvSpPr>
          <p:nvPr>
            <p:ph type="ctrTitle"/>
          </p:nvPr>
        </p:nvSpPr>
        <p:spPr>
          <a:xfrm>
            <a:off x="1458900" y="2644900"/>
            <a:ext cx="15376200" cy="3329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15" name="Google Shape;15;g3f8aea27ec5_2_743"/>
          <p:cNvSpPr txBox="1">
            <a:spLocks noGrp="1"/>
          </p:cNvSpPr>
          <p:nvPr>
            <p:ph type="subTitle" idx="1"/>
          </p:nvPr>
        </p:nvSpPr>
        <p:spPr>
          <a:xfrm>
            <a:off x="1459255" y="6345800"/>
            <a:ext cx="15376200" cy="1082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6" name="Google Shape;16;g3f8aea27ec5_2_743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f8aea27ec5_2_751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19" name="Google Shape;19;g3f8aea27ec5_2_75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g3f8aea27ec5_2_75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g3f8aea27ec5_2_751"/>
          <p:cNvSpPr txBox="1">
            <a:spLocks noGrp="1"/>
          </p:cNvSpPr>
          <p:nvPr>
            <p:ph type="title"/>
          </p:nvPr>
        </p:nvSpPr>
        <p:spPr>
          <a:xfrm>
            <a:off x="1458900" y="2644900"/>
            <a:ext cx="15376800" cy="3037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g3f8aea27ec5_2_751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8aea27ec5_2_757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g3f8aea27ec5_2_757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26" name="Google Shape;26;g3f8aea27ec5_2_7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g3f8aea27ec5_2_75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g3f8aea27ec5_2_757"/>
          <p:cNvSpPr txBox="1">
            <a:spLocks noGrp="1"/>
          </p:cNvSpPr>
          <p:nvPr>
            <p:ph type="title"/>
          </p:nvPr>
        </p:nvSpPr>
        <p:spPr>
          <a:xfrm>
            <a:off x="1458900" y="2637300"/>
            <a:ext cx="15377400" cy="1070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9" name="Google Shape;29;g3f8aea27ec5_2_757"/>
          <p:cNvSpPr txBox="1">
            <a:spLocks noGrp="1"/>
          </p:cNvSpPr>
          <p:nvPr>
            <p:ph type="body" idx="1"/>
          </p:nvPr>
        </p:nvSpPr>
        <p:spPr>
          <a:xfrm>
            <a:off x="1458900" y="4157750"/>
            <a:ext cx="15377400" cy="4522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g3f8aea27ec5_2_757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8aea27ec5_2_765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g3f8aea27ec5_2_765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34" name="Google Shape;34;g3f8aea27ec5_2_76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g3f8aea27ec5_2_7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g3f8aea27ec5_2_765"/>
          <p:cNvSpPr txBox="1">
            <a:spLocks noGrp="1"/>
          </p:cNvSpPr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7" name="Google Shape;37;g3f8aea27ec5_2_765"/>
          <p:cNvSpPr txBox="1">
            <a:spLocks noGrp="1"/>
          </p:cNvSpPr>
          <p:nvPr>
            <p:ph type="body" idx="1"/>
          </p:nvPr>
        </p:nvSpPr>
        <p:spPr>
          <a:xfrm>
            <a:off x="1458650" y="4157750"/>
            <a:ext cx="7548600" cy="4522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g3f8aea27ec5_2_765"/>
          <p:cNvSpPr txBox="1">
            <a:spLocks noGrp="1"/>
          </p:cNvSpPr>
          <p:nvPr>
            <p:ph type="body" idx="2"/>
          </p:nvPr>
        </p:nvSpPr>
        <p:spPr>
          <a:xfrm>
            <a:off x="9287207" y="4157750"/>
            <a:ext cx="7548600" cy="4522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g3f8aea27ec5_2_765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8aea27ec5_2_774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g3f8aea27ec5_2_774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43" name="Google Shape;43;g3f8aea27ec5_2_77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g3f8aea27ec5_2_77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g3f8aea27ec5_2_774"/>
          <p:cNvSpPr txBox="1">
            <a:spLocks noGrp="1"/>
          </p:cNvSpPr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6" name="Google Shape;46;g3f8aea27ec5_2_774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aea27ec5_2_781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g3f8aea27ec5_2_781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50" name="Google Shape;50;g3f8aea27ec5_2_78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g3f8aea27ec5_2_78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g3f8aea27ec5_2_781"/>
          <p:cNvSpPr txBox="1">
            <a:spLocks noGrp="1"/>
          </p:cNvSpPr>
          <p:nvPr>
            <p:ph type="title"/>
          </p:nvPr>
        </p:nvSpPr>
        <p:spPr>
          <a:xfrm>
            <a:off x="1460000" y="2637300"/>
            <a:ext cx="6601800" cy="2763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3" name="Google Shape;53;g3f8aea27ec5_2_781"/>
          <p:cNvSpPr txBox="1">
            <a:spLocks noGrp="1"/>
          </p:cNvSpPr>
          <p:nvPr>
            <p:ph type="body" idx="1"/>
          </p:nvPr>
        </p:nvSpPr>
        <p:spPr>
          <a:xfrm>
            <a:off x="1442450" y="5563450"/>
            <a:ext cx="6601800" cy="3195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g3f8aea27ec5_2_781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f8aea27ec5_2_789"/>
          <p:cNvGrpSpPr/>
          <p:nvPr/>
        </p:nvGrpSpPr>
        <p:grpSpPr>
          <a:xfrm>
            <a:off x="1660784" y="8338260"/>
            <a:ext cx="1491526" cy="91652"/>
            <a:chOff x="4580561" y="2589004"/>
            <a:chExt cx="1064464" cy="25200"/>
          </a:xfrm>
        </p:grpSpPr>
        <p:sp>
          <p:nvSpPr>
            <p:cNvPr id="57" name="Google Shape;57;g3f8aea27ec5_2_78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g3f8aea27ec5_2_78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g3f8aea27ec5_2_789"/>
          <p:cNvSpPr txBox="1">
            <a:spLocks noGrp="1"/>
          </p:cNvSpPr>
          <p:nvPr>
            <p:ph type="title"/>
          </p:nvPr>
        </p:nvSpPr>
        <p:spPr>
          <a:xfrm>
            <a:off x="1458900" y="1728600"/>
            <a:ext cx="14042400" cy="59700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g3f8aea27ec5_2_789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8aea27ec5_2_795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g3f8aea27ec5_2_795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64" name="Google Shape;64;g3f8aea27ec5_2_79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g3f8aea27ec5_2_79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g3f8aea27ec5_2_795"/>
          <p:cNvSpPr txBox="1">
            <a:spLocks noGrp="1"/>
          </p:cNvSpPr>
          <p:nvPr>
            <p:ph type="title"/>
          </p:nvPr>
        </p:nvSpPr>
        <p:spPr>
          <a:xfrm>
            <a:off x="1460000" y="2637300"/>
            <a:ext cx="6601800" cy="3374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7" name="Google Shape;67;g3f8aea27ec5_2_795"/>
          <p:cNvSpPr txBox="1">
            <a:spLocks noGrp="1"/>
          </p:cNvSpPr>
          <p:nvPr>
            <p:ph type="subTitle" idx="1"/>
          </p:nvPr>
        </p:nvSpPr>
        <p:spPr>
          <a:xfrm>
            <a:off x="1449900" y="6323050"/>
            <a:ext cx="6601800" cy="1518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8" name="Google Shape;68;g3f8aea27ec5_2_795"/>
          <p:cNvSpPr txBox="1">
            <a:spLocks noGrp="1"/>
          </p:cNvSpPr>
          <p:nvPr>
            <p:ph type="body" idx="2"/>
          </p:nvPr>
        </p:nvSpPr>
        <p:spPr>
          <a:xfrm>
            <a:off x="10348450" y="2705250"/>
            <a:ext cx="6748800" cy="6051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g3f8aea27ec5_2_795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8aea27ec5_2_804"/>
          <p:cNvSpPr txBox="1">
            <a:spLocks noGrp="1"/>
          </p:cNvSpPr>
          <p:nvPr>
            <p:ph type="body" idx="1"/>
          </p:nvPr>
        </p:nvSpPr>
        <p:spPr>
          <a:xfrm>
            <a:off x="1449900" y="8745102"/>
            <a:ext cx="15394800" cy="9210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g3f8aea27ec5_2_804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f8aea27ec5_2_807"/>
          <p:cNvGrpSpPr/>
          <p:nvPr/>
        </p:nvGrpSpPr>
        <p:grpSpPr>
          <a:xfrm>
            <a:off x="1660784" y="8338260"/>
            <a:ext cx="1491526" cy="91652"/>
            <a:chOff x="4580561" y="2589004"/>
            <a:chExt cx="1064464" cy="25200"/>
          </a:xfrm>
        </p:grpSpPr>
        <p:sp>
          <p:nvSpPr>
            <p:cNvPr id="75" name="Google Shape;75;g3f8aea27ec5_2_80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g3f8aea27ec5_2_80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g3f8aea27ec5_2_807"/>
          <p:cNvSpPr txBox="1">
            <a:spLocks noGrp="1"/>
          </p:cNvSpPr>
          <p:nvPr>
            <p:ph type="title" hasCustomPrompt="1"/>
          </p:nvPr>
        </p:nvSpPr>
        <p:spPr>
          <a:xfrm>
            <a:off x="1458900" y="1467900"/>
            <a:ext cx="15376800" cy="2489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f8aea27ec5_2_807"/>
          <p:cNvSpPr txBox="1">
            <a:spLocks noGrp="1"/>
          </p:cNvSpPr>
          <p:nvPr>
            <p:ph type="body" idx="1"/>
          </p:nvPr>
        </p:nvSpPr>
        <p:spPr>
          <a:xfrm>
            <a:off x="1458900" y="4545776"/>
            <a:ext cx="15376800" cy="3160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g3f8aea27ec5_2_807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aea27ec5_2_814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8aea27ec5_2_73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g3f8aea27ec5_2_73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Lato"/>
              <a:buChar char="●"/>
              <a:defRPr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○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■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●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○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■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●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○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■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g3f8aea27ec5_2_739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6107" y="3"/>
            <a:ext cx="15430500" cy="10287000"/>
          </a:xfrm>
          <a:prstGeom prst="parallelogram">
            <a:avLst>
              <a:gd name="adj" fmla="val 25000"/>
            </a:avLst>
          </a:prstGeom>
          <a:noFill/>
          <a:ln>
            <a:noFill/>
          </a:ln>
          <a:effectLst>
            <a:outerShdw blurRad="142875" dist="9525" dir="108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7" name="Google Shape;87;p1"/>
          <p:cNvSpPr/>
          <p:nvPr/>
        </p:nvSpPr>
        <p:spPr>
          <a:xfrm>
            <a:off x="581600" y="2326016"/>
            <a:ext cx="9144000" cy="183000"/>
          </a:xfrm>
          <a:prstGeom prst="rect">
            <a:avLst/>
          </a:prstGeom>
          <a:solidFill>
            <a:srgbClr val="3552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24225" y="4959000"/>
            <a:ext cx="3388200" cy="4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55286"/>
                </a:solidFill>
              </a:rPr>
              <a:t>Docente</a:t>
            </a:r>
            <a:br>
              <a:rPr lang="en-US" sz="3000"/>
            </a:br>
            <a:r>
              <a:rPr lang="en-US" sz="3000" i="0" u="none" strike="noStrike" cap="none">
                <a:solidFill>
                  <a:srgbClr val="355286"/>
                </a:solidFill>
              </a:rPr>
              <a:t>Mauricio Figueroa</a:t>
            </a:r>
            <a:endParaRPr sz="3000"/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55286"/>
                </a:solidFill>
              </a:rPr>
              <a:t>Asignatura</a:t>
            </a:r>
            <a:br>
              <a:rPr lang="en-US" sz="3000" b="1">
                <a:solidFill>
                  <a:srgbClr val="355286"/>
                </a:solidFill>
              </a:rPr>
            </a:br>
            <a:r>
              <a:rPr lang="en-US" sz="3000">
                <a:solidFill>
                  <a:srgbClr val="355286"/>
                </a:solidFill>
              </a:rPr>
              <a:t>Capstone </a:t>
            </a:r>
            <a:r>
              <a:rPr lang="en-US" sz="3000" i="0" u="none" strike="noStrike" cap="none">
                <a:solidFill>
                  <a:srgbClr val="355286"/>
                </a:solidFill>
              </a:rPr>
              <a:t>002D</a:t>
            </a:r>
            <a:endParaRPr sz="3000" i="0" u="none" strike="noStrike" cap="none">
              <a:solidFill>
                <a:srgbClr val="355286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Font typeface="Arial"/>
              <a:buNone/>
            </a:pPr>
            <a:r>
              <a:rPr lang="en-US" sz="3000" b="1">
                <a:solidFill>
                  <a:srgbClr val="355286"/>
                </a:solidFill>
              </a:rPr>
              <a:t>Integrantes</a:t>
            </a:r>
            <a:br>
              <a:rPr lang="en-US" sz="3000">
                <a:solidFill>
                  <a:schemeClr val="dk1"/>
                </a:solidFill>
              </a:rPr>
            </a:br>
            <a:r>
              <a:rPr lang="en-US" sz="3000">
                <a:solidFill>
                  <a:srgbClr val="355286"/>
                </a:solidFill>
              </a:rPr>
              <a:t>Smolenks Aravena</a:t>
            </a:r>
            <a:br>
              <a:rPr lang="en-US" sz="3000">
                <a:solidFill>
                  <a:schemeClr val="dk1"/>
                </a:solidFill>
              </a:rPr>
            </a:br>
            <a:r>
              <a:rPr lang="en-US" sz="3000">
                <a:solidFill>
                  <a:srgbClr val="355286"/>
                </a:solidFill>
              </a:rPr>
              <a:t>Matías González</a:t>
            </a:r>
            <a:br>
              <a:rPr lang="en-US" sz="3000">
                <a:solidFill>
                  <a:schemeClr val="dk1"/>
                </a:solidFill>
              </a:rPr>
            </a:br>
            <a:r>
              <a:rPr lang="en-US" sz="3000">
                <a:solidFill>
                  <a:srgbClr val="355286"/>
                </a:solidFill>
              </a:rPr>
              <a:t>Jean Leyton</a:t>
            </a:r>
            <a:endParaRPr sz="3000">
              <a:solidFill>
                <a:srgbClr val="355286"/>
              </a:solidFill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824225" y="1000925"/>
            <a:ext cx="87624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 i="0" u="none" strike="noStrike" cap="none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MIL Y UNA IDEAS</a:t>
            </a:r>
            <a:endParaRPr sz="8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f8aea27ec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0500" y="2669975"/>
            <a:ext cx="14604900" cy="12822000"/>
          </a:xfrm>
          <a:prstGeom prst="ellipse">
            <a:avLst/>
          </a:prstGeom>
          <a:noFill/>
          <a:ln>
            <a:noFill/>
          </a:ln>
          <a:effectLst>
            <a:outerShdw blurRad="142875" dist="9525" dir="108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5" name="Google Shape;95;g3f8aea27ec5_0_0"/>
          <p:cNvSpPr txBox="1"/>
          <p:nvPr/>
        </p:nvSpPr>
        <p:spPr>
          <a:xfrm>
            <a:off x="1028699" y="828850"/>
            <a:ext cx="13257143" cy="1455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 dirty="0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TABLA DE CONTENIDOS</a:t>
            </a:r>
            <a:endParaRPr sz="8600" dirty="0"/>
          </a:p>
        </p:txBody>
      </p:sp>
      <p:sp>
        <p:nvSpPr>
          <p:cNvPr id="96" name="Google Shape;96;g3f8aea27ec5_0_0"/>
          <p:cNvSpPr txBox="1"/>
          <p:nvPr/>
        </p:nvSpPr>
        <p:spPr>
          <a:xfrm>
            <a:off x="1353250" y="2281350"/>
            <a:ext cx="6734400" cy="73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AutoNum type="arabicPeriod"/>
            </a:pPr>
            <a:r>
              <a:rPr lang="en-US" sz="3000">
                <a:solidFill>
                  <a:srgbClr val="355286"/>
                </a:solidFill>
              </a:rPr>
              <a:t>Contexto</a:t>
            </a:r>
            <a:endParaRPr sz="3000">
              <a:solidFill>
                <a:srgbClr val="355286"/>
              </a:solidFill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AutoNum type="arabicPeriod"/>
            </a:pPr>
            <a:r>
              <a:rPr lang="en-US" sz="3000">
                <a:solidFill>
                  <a:srgbClr val="355286"/>
                </a:solidFill>
              </a:rPr>
              <a:t>Problemas</a:t>
            </a:r>
            <a:endParaRPr sz="3000">
              <a:solidFill>
                <a:srgbClr val="355286"/>
              </a:solidFill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AutoNum type="arabicPeriod"/>
            </a:pPr>
            <a:r>
              <a:rPr lang="en-US" sz="3000">
                <a:solidFill>
                  <a:srgbClr val="355286"/>
                </a:solidFill>
              </a:rPr>
              <a:t>Necesidades</a:t>
            </a:r>
            <a:endParaRPr sz="3000">
              <a:solidFill>
                <a:srgbClr val="355286"/>
              </a:solidFill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AutoNum type="arabicPeriod"/>
            </a:pPr>
            <a:r>
              <a:rPr lang="en-US" sz="3000">
                <a:solidFill>
                  <a:srgbClr val="355286"/>
                </a:solidFill>
              </a:rPr>
              <a:t>Solución</a:t>
            </a:r>
            <a:endParaRPr sz="3000">
              <a:solidFill>
                <a:srgbClr val="355286"/>
              </a:solidFill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AutoNum type="arabicPeriod"/>
            </a:pPr>
            <a:r>
              <a:rPr lang="en-US" sz="3000">
                <a:solidFill>
                  <a:srgbClr val="355286"/>
                </a:solidFill>
              </a:rPr>
              <a:t>Requerimientos funcionales</a:t>
            </a:r>
            <a:endParaRPr sz="3000">
              <a:solidFill>
                <a:srgbClr val="355286"/>
              </a:solidFill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AutoNum type="arabicPeriod"/>
            </a:pPr>
            <a:r>
              <a:rPr lang="en-US" sz="3000">
                <a:solidFill>
                  <a:srgbClr val="355286"/>
                </a:solidFill>
              </a:rPr>
              <a:t>Requerimientos no funcionales</a:t>
            </a:r>
            <a:endParaRPr sz="3000">
              <a:solidFill>
                <a:srgbClr val="355286"/>
              </a:solidFill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AutoNum type="arabicPeriod"/>
            </a:pPr>
            <a:r>
              <a:rPr lang="en-US" sz="3000">
                <a:solidFill>
                  <a:srgbClr val="355286"/>
                </a:solidFill>
              </a:rPr>
              <a:t>Épicas</a:t>
            </a:r>
            <a:endParaRPr sz="3000">
              <a:solidFill>
                <a:srgbClr val="355286"/>
              </a:solidFill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AutoNum type="arabicPeriod"/>
            </a:pPr>
            <a:r>
              <a:rPr lang="en-US" sz="3000">
                <a:solidFill>
                  <a:srgbClr val="355286"/>
                </a:solidFill>
              </a:rPr>
              <a:t>Historias de Usuario</a:t>
            </a:r>
            <a:endParaRPr sz="3000">
              <a:solidFill>
                <a:srgbClr val="355286"/>
              </a:solidFill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AutoNum type="arabicPeriod"/>
            </a:pPr>
            <a:r>
              <a:rPr lang="en-US" sz="3000">
                <a:solidFill>
                  <a:srgbClr val="355286"/>
                </a:solidFill>
              </a:rPr>
              <a:t>Arquitectura</a:t>
            </a:r>
            <a:endParaRPr sz="3000">
              <a:solidFill>
                <a:srgbClr val="355286"/>
              </a:solidFill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AutoNum type="arabicPeriod"/>
            </a:pPr>
            <a:r>
              <a:rPr lang="en-US" sz="3000">
                <a:solidFill>
                  <a:srgbClr val="355286"/>
                </a:solidFill>
              </a:rPr>
              <a:t>Metodología</a:t>
            </a:r>
            <a:endParaRPr sz="3000">
              <a:solidFill>
                <a:srgbClr val="355286"/>
              </a:solidFill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AutoNum type="arabicPeriod"/>
            </a:pPr>
            <a:r>
              <a:rPr lang="en-US" sz="3000">
                <a:solidFill>
                  <a:srgbClr val="355286"/>
                </a:solidFill>
              </a:rPr>
              <a:t>Scrum Team</a:t>
            </a:r>
            <a:endParaRPr sz="3000">
              <a:solidFill>
                <a:srgbClr val="355286"/>
              </a:solidFill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AutoNum type="arabicPeriod"/>
            </a:pPr>
            <a:r>
              <a:rPr lang="en-US" sz="3000">
                <a:solidFill>
                  <a:srgbClr val="355286"/>
                </a:solidFill>
              </a:rPr>
              <a:t>Evidencias</a:t>
            </a:r>
            <a:endParaRPr sz="3000">
              <a:solidFill>
                <a:srgbClr val="355286"/>
              </a:solidFill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AutoNum type="arabicPeriod"/>
            </a:pPr>
            <a:r>
              <a:rPr lang="en-US" sz="3000">
                <a:solidFill>
                  <a:srgbClr val="355286"/>
                </a:solidFill>
              </a:rPr>
              <a:t>Carta gantt</a:t>
            </a:r>
            <a:endParaRPr sz="3000">
              <a:solidFill>
                <a:srgbClr val="355286"/>
              </a:solidFill>
            </a:endParaRPr>
          </a:p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AutoNum type="arabicPeriod"/>
            </a:pPr>
            <a:r>
              <a:rPr lang="en-US" sz="3000">
                <a:solidFill>
                  <a:srgbClr val="355286"/>
                </a:solidFill>
              </a:rPr>
              <a:t>Conclusión y reflexiones</a:t>
            </a:r>
            <a:endParaRPr sz="3000">
              <a:solidFill>
                <a:srgbClr val="355286"/>
              </a:solidFill>
            </a:endParaRPr>
          </a:p>
        </p:txBody>
      </p:sp>
      <p:sp>
        <p:nvSpPr>
          <p:cNvPr id="97" name="Google Shape;97;g3f8aea27ec5_0_0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FFFFFF"/>
                </a:solidFill>
              </a:rPr>
              <a:t>2</a:t>
            </a:fld>
            <a:r>
              <a:rPr lang="en-US" sz="2400" b="1">
                <a:solidFill>
                  <a:srgbClr val="FFFFFF"/>
                </a:solidFill>
              </a:rPr>
              <a:t> / 16</a:t>
            </a:r>
            <a:endParaRPr sz="24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8addd4091_0_3"/>
          <p:cNvSpPr txBox="1"/>
          <p:nvPr/>
        </p:nvSpPr>
        <p:spPr>
          <a:xfrm>
            <a:off x="1028700" y="828850"/>
            <a:ext cx="70674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1. </a:t>
            </a:r>
            <a:r>
              <a:rPr lang="en-US" sz="8600" b="0" i="0" u="none" strike="noStrike" cap="none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CONTEXTO</a:t>
            </a:r>
            <a:endParaRPr sz="8600"/>
          </a:p>
        </p:txBody>
      </p:sp>
      <p:sp>
        <p:nvSpPr>
          <p:cNvPr id="103" name="Google Shape;103;g3f8addd4091_0_3"/>
          <p:cNvSpPr txBox="1"/>
          <p:nvPr/>
        </p:nvSpPr>
        <p:spPr>
          <a:xfrm>
            <a:off x="1028700" y="7119025"/>
            <a:ext cx="6508500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>
                <a:solidFill>
                  <a:srgbClr val="355286"/>
                </a:solidFill>
              </a:rPr>
              <a:t>T</a:t>
            </a:r>
            <a:r>
              <a:rPr lang="en-US" sz="3000" i="0" u="none" strike="noStrike" cap="none">
                <a:solidFill>
                  <a:srgbClr val="355286"/>
                </a:solidFill>
              </a:rPr>
              <a:t>aller de costura, en el cual se realizan confecciones de prendas</a:t>
            </a:r>
            <a:r>
              <a:rPr lang="en-US" sz="3000">
                <a:solidFill>
                  <a:srgbClr val="355286"/>
                </a:solidFill>
              </a:rPr>
              <a:t>, dentro de estos:</a:t>
            </a:r>
            <a:r>
              <a:rPr lang="en-US" sz="3000" i="0" u="none" strike="noStrike" cap="none">
                <a:solidFill>
                  <a:srgbClr val="355286"/>
                </a:solidFill>
              </a:rPr>
              <a:t> ropa deportiva, uniformes escolares, ropa de trabajo, bolsos, mochilas, g</a:t>
            </a:r>
            <a:r>
              <a:rPr lang="en-US" sz="3000">
                <a:solidFill>
                  <a:srgbClr val="355286"/>
                </a:solidFill>
              </a:rPr>
              <a:t>orros</a:t>
            </a:r>
            <a:r>
              <a:rPr lang="en-US" sz="3000" i="0" u="none" strike="noStrike" cap="none">
                <a:solidFill>
                  <a:srgbClr val="355286"/>
                </a:solidFill>
              </a:rPr>
              <a:t>, </a:t>
            </a:r>
            <a:r>
              <a:rPr lang="en-US" sz="3000">
                <a:solidFill>
                  <a:srgbClr val="355286"/>
                </a:solidFill>
              </a:rPr>
              <a:t>entre otros</a:t>
            </a:r>
            <a:r>
              <a:rPr lang="en-US" sz="3000" i="0" u="none" strike="noStrike" cap="none">
                <a:solidFill>
                  <a:srgbClr val="355286"/>
                </a:solidFill>
              </a:rPr>
              <a:t>.</a:t>
            </a:r>
            <a:endParaRPr sz="3000"/>
          </a:p>
        </p:txBody>
      </p:sp>
      <p:sp>
        <p:nvSpPr>
          <p:cNvPr id="104" name="Google Shape;104;g3f8addd4091_0_3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355286"/>
                </a:solidFill>
              </a:rPr>
              <a:t>3</a:t>
            </a:fld>
            <a:r>
              <a:rPr lang="en-US" sz="2400" b="1">
                <a:solidFill>
                  <a:srgbClr val="355286"/>
                </a:solidFill>
              </a:rPr>
              <a:t> / 16</a:t>
            </a:r>
            <a:endParaRPr sz="2400" b="1">
              <a:solidFill>
                <a:srgbClr val="355286"/>
              </a:solidFill>
            </a:endParaRPr>
          </a:p>
        </p:txBody>
      </p:sp>
      <p:pic>
        <p:nvPicPr>
          <p:cNvPr id="105" name="Google Shape;105;g3f8addd4091_0_3" title="WhatsApp Image 2026-08-30 at 14.25.1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0350" y="488450"/>
            <a:ext cx="3986700" cy="5315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2154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6" name="Google Shape;106;g3f8addd4091_0_3" title="WhatsApp Image 2026-08-30 at 14.25.18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19975" y="2388700"/>
            <a:ext cx="4205400" cy="5607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57150" dir="2154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7" name="Google Shape;107;g3f8addd4091_0_3" title="WhatsApp Image 2026-08-30 at 14.25.201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24950" y="4063800"/>
            <a:ext cx="4205400" cy="5607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2154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8" name="Google Shape;108;g3f8addd4091_0_3"/>
          <p:cNvSpPr txBox="1"/>
          <p:nvPr/>
        </p:nvSpPr>
        <p:spPr>
          <a:xfrm>
            <a:off x="1028700" y="2388700"/>
            <a:ext cx="4945800" cy="17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i="0" u="none" strike="noStrike" cap="none">
                <a:solidFill>
                  <a:srgbClr val="355286"/>
                </a:solidFill>
              </a:rPr>
              <a:t>“</a:t>
            </a:r>
            <a:r>
              <a:rPr lang="en-US" sz="3000" b="1" i="0" u="none" strike="noStrike" cap="none">
                <a:solidFill>
                  <a:srgbClr val="355286"/>
                </a:solidFill>
              </a:rPr>
              <a:t>Mil y una ideas SPA</a:t>
            </a:r>
            <a:r>
              <a:rPr lang="en-US" sz="3000" i="0" u="none" strike="noStrike" cap="none">
                <a:solidFill>
                  <a:srgbClr val="355286"/>
                </a:solidFill>
              </a:rPr>
              <a:t>”</a:t>
            </a:r>
            <a:endParaRPr sz="3000">
              <a:solidFill>
                <a:srgbClr val="355286"/>
              </a:solidFill>
            </a:endParaRPr>
          </a:p>
          <a:p>
            <a:pPr marL="457200" marR="0" lvl="0" indent="-419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55286"/>
              </a:buClr>
              <a:buSzPts val="3000"/>
              <a:buChar char="●"/>
            </a:pPr>
            <a:r>
              <a:rPr lang="en-US" sz="3000">
                <a:solidFill>
                  <a:srgbClr val="355286"/>
                </a:solidFill>
              </a:rPr>
              <a:t>Carolina Palma</a:t>
            </a:r>
            <a:endParaRPr sz="3000">
              <a:solidFill>
                <a:srgbClr val="355286"/>
              </a:solidFill>
            </a:endParaRPr>
          </a:p>
          <a:p>
            <a:pPr marL="457200" marR="0" lvl="0" indent="-419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355286"/>
              </a:buClr>
              <a:buSzPts val="3000"/>
              <a:buChar char="●"/>
            </a:pPr>
            <a:r>
              <a:rPr lang="en-US" sz="3000">
                <a:solidFill>
                  <a:srgbClr val="355286"/>
                </a:solidFill>
              </a:rPr>
              <a:t>Valparaiso</a:t>
            </a:r>
            <a:endParaRPr sz="3000">
              <a:solidFill>
                <a:srgbClr val="355286"/>
              </a:solidFill>
            </a:endParaRPr>
          </a:p>
        </p:txBody>
      </p:sp>
      <p:sp>
        <p:nvSpPr>
          <p:cNvPr id="109" name="Google Shape;109;g3f8addd4091_0_3"/>
          <p:cNvSpPr/>
          <p:nvPr/>
        </p:nvSpPr>
        <p:spPr>
          <a:xfrm>
            <a:off x="4572012" y="3030602"/>
            <a:ext cx="3586423" cy="3422576"/>
          </a:xfrm>
          <a:custGeom>
            <a:avLst/>
            <a:gdLst/>
            <a:ahLst/>
            <a:cxnLst/>
            <a:rect l="l" t="t" r="r" b="b"/>
            <a:pathLst>
              <a:path w="7282077" h="7282077" extrusionOk="0">
                <a:moveTo>
                  <a:pt x="0" y="0"/>
                </a:moveTo>
                <a:lnTo>
                  <a:pt x="7282077" y="0"/>
                </a:lnTo>
                <a:lnTo>
                  <a:pt x="7282077" y="7282076"/>
                </a:lnTo>
                <a:lnTo>
                  <a:pt x="0" y="72820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1028700" y="2335365"/>
            <a:ext cx="7016375" cy="6384901"/>
          </a:xfrm>
          <a:custGeom>
            <a:avLst/>
            <a:gdLst/>
            <a:ahLst/>
            <a:cxnLst/>
            <a:rect l="l" t="t" r="r" b="b"/>
            <a:pathLst>
              <a:path w="7016375" h="6384901" extrusionOk="0">
                <a:moveTo>
                  <a:pt x="0" y="0"/>
                </a:moveTo>
                <a:lnTo>
                  <a:pt x="7016375" y="0"/>
                </a:lnTo>
                <a:lnTo>
                  <a:pt x="7016375" y="6384902"/>
                </a:lnTo>
                <a:lnTo>
                  <a:pt x="0" y="63849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5" name="Google Shape;115;p3"/>
          <p:cNvSpPr txBox="1"/>
          <p:nvPr/>
        </p:nvSpPr>
        <p:spPr>
          <a:xfrm>
            <a:off x="1028700" y="659554"/>
            <a:ext cx="16230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2. </a:t>
            </a:r>
            <a:r>
              <a:rPr lang="en-US" sz="8600" b="0" i="0" u="none" strike="noStrike" cap="none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PROBLEMAS</a:t>
            </a:r>
            <a:endParaRPr sz="8600"/>
          </a:p>
        </p:txBody>
      </p:sp>
      <p:sp>
        <p:nvSpPr>
          <p:cNvPr id="116" name="Google Shape;116;p3"/>
          <p:cNvSpPr txBox="1"/>
          <p:nvPr/>
        </p:nvSpPr>
        <p:spPr>
          <a:xfrm>
            <a:off x="9591134" y="2552239"/>
            <a:ext cx="7883400" cy="6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55286"/>
                </a:solidFill>
              </a:rPr>
              <a:t>Gestión 100% Manual</a:t>
            </a:r>
            <a:endParaRPr sz="3000"/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 i="0" u="none" strike="noStrike" cap="none">
                <a:solidFill>
                  <a:srgbClr val="355286"/>
                </a:solidFill>
              </a:rPr>
              <a:t>Registro en papel o comunicación verbal, lo que provoca pérdida de trazabilidad e historial con los clientes.</a:t>
            </a:r>
            <a:endParaRPr sz="3000"/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000"/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55286"/>
                </a:solidFill>
              </a:rPr>
              <a:t>Falta de Visibilidad en Producción</a:t>
            </a:r>
            <a:endParaRPr sz="3000"/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 i="0" u="none" strike="noStrike" cap="none">
                <a:solidFill>
                  <a:srgbClr val="355286"/>
                </a:solidFill>
              </a:rPr>
              <a:t>Dificultad sobre el estado real de los pedidos</a:t>
            </a:r>
            <a:endParaRPr sz="3000"/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000"/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000" b="1" i="0" u="none" strike="noStrike" cap="none">
                <a:solidFill>
                  <a:srgbClr val="355286"/>
                </a:solidFill>
              </a:rPr>
              <a:t>Descontrol de Responsabilidades Internas</a:t>
            </a:r>
            <a:r>
              <a:rPr lang="en-US" sz="3000" i="0" u="none" strike="noStrike" cap="none">
                <a:solidFill>
                  <a:srgbClr val="355286"/>
                </a:solidFill>
              </a:rPr>
              <a:t> Dificultad para asignar, monitorear y evaluar el trabajo individual de cortadoras y operarias.</a:t>
            </a:r>
            <a:endParaRPr sz="3000" i="0" u="none" strike="noStrike" cap="none">
              <a:solidFill>
                <a:srgbClr val="355286"/>
              </a:solidFill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sldNum" idx="12"/>
          </p:nvPr>
        </p:nvSpPr>
        <p:spPr>
          <a:xfrm>
            <a:off x="15760425" y="9686200"/>
            <a:ext cx="2133600" cy="3651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4</a:t>
            </a:fld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3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355286"/>
                </a:solidFill>
              </a:rPr>
              <a:t>4</a:t>
            </a:fld>
            <a:r>
              <a:rPr lang="en-US" sz="2400" b="1">
                <a:solidFill>
                  <a:srgbClr val="355286"/>
                </a:solidFill>
              </a:rPr>
              <a:t> / 16</a:t>
            </a:r>
            <a:endParaRPr sz="2400" b="1">
              <a:solidFill>
                <a:srgbClr val="35528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/>
        </p:nvSpPr>
        <p:spPr>
          <a:xfrm>
            <a:off x="8362950" y="860167"/>
            <a:ext cx="86994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3. </a:t>
            </a:r>
            <a:r>
              <a:rPr lang="en-US" sz="8600" b="0" i="0" u="none" strike="noStrike" cap="none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NECESIDADES</a:t>
            </a:r>
            <a:endParaRPr sz="8600"/>
          </a:p>
        </p:txBody>
      </p:sp>
      <p:sp>
        <p:nvSpPr>
          <p:cNvPr id="124" name="Google Shape;124;p4"/>
          <p:cNvSpPr txBox="1"/>
          <p:nvPr/>
        </p:nvSpPr>
        <p:spPr>
          <a:xfrm>
            <a:off x="8362950" y="2576138"/>
            <a:ext cx="8115300" cy="6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55286"/>
                </a:solidFill>
              </a:rPr>
              <a:t>Centralización de Información</a:t>
            </a:r>
            <a:endParaRPr sz="3000"/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 i="0" u="none" strike="noStrike" cap="none">
                <a:solidFill>
                  <a:srgbClr val="355286"/>
                </a:solidFill>
              </a:rPr>
              <a:t>Registrar clientes, pedidos y especificaciones técnicas en una sola base de datos accesible.</a:t>
            </a:r>
            <a:endParaRPr sz="3000"/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55286"/>
                </a:solidFill>
              </a:rPr>
              <a:t>Trazabilidad en Tiempo Real</a:t>
            </a:r>
            <a:endParaRPr sz="3000"/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 i="0" u="none" strike="noStrike" cap="none">
                <a:solidFill>
                  <a:srgbClr val="355286"/>
                </a:solidFill>
              </a:rPr>
              <a:t>Visualizar el flujo de trabajo en el taller para detectar cuellos de botella y cumplir plazos de entrega.</a:t>
            </a:r>
            <a:endParaRPr sz="3000"/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55286"/>
                </a:solidFill>
              </a:rPr>
              <a:t>Control Operativo</a:t>
            </a:r>
            <a:endParaRPr sz="3000"/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000" i="0" u="none" strike="noStrike" cap="none">
                <a:solidFill>
                  <a:srgbClr val="355286"/>
                </a:solidFill>
              </a:rPr>
              <a:t>Sistema digital de asignación de tareas por rol para transparentar responsabilidades y medir tiempos de producción.</a:t>
            </a:r>
            <a:endParaRPr sz="3000"/>
          </a:p>
        </p:txBody>
      </p:sp>
      <p:sp>
        <p:nvSpPr>
          <p:cNvPr id="125" name="Google Shape;125;p4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355286"/>
                </a:solidFill>
              </a:rPr>
              <a:t>5</a:t>
            </a:fld>
            <a:r>
              <a:rPr lang="en-US" sz="2400" b="1">
                <a:solidFill>
                  <a:srgbClr val="355286"/>
                </a:solidFill>
              </a:rPr>
              <a:t> / 16</a:t>
            </a:r>
            <a:endParaRPr sz="2400" b="1">
              <a:solidFill>
                <a:srgbClr val="355286"/>
              </a:solidFill>
            </a:endParaRPr>
          </a:p>
        </p:txBody>
      </p:sp>
      <p:pic>
        <p:nvPicPr>
          <p:cNvPr id="126" name="Google Shape;12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861353" cy="10286999"/>
          </a:xfrm>
          <a:prstGeom prst="rect">
            <a:avLst/>
          </a:prstGeom>
          <a:noFill/>
          <a:ln>
            <a:noFill/>
          </a:ln>
          <a:effectLst>
            <a:outerShdw blurRad="142875" dist="9525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>
            <a:off x="4629150" y="310400"/>
            <a:ext cx="65913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4. </a:t>
            </a:r>
            <a:r>
              <a:rPr lang="en-US" sz="8600" b="0" i="0" u="none" strike="noStrike" cap="none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SOLUCIÓN</a:t>
            </a:r>
            <a:endParaRPr sz="8600"/>
          </a:p>
        </p:txBody>
      </p:sp>
      <p:sp>
        <p:nvSpPr>
          <p:cNvPr id="132" name="Google Shape;132;p5"/>
          <p:cNvSpPr txBox="1"/>
          <p:nvPr/>
        </p:nvSpPr>
        <p:spPr>
          <a:xfrm>
            <a:off x="2527200" y="1850700"/>
            <a:ext cx="10795200" cy="11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55286"/>
                </a:solidFill>
              </a:rPr>
              <a:t>Plataforma Web de Gestión Textil</a:t>
            </a:r>
            <a:endParaRPr sz="3000"/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000" i="0" u="none" strike="noStrike" cap="none">
                <a:solidFill>
                  <a:srgbClr val="355286"/>
                </a:solidFill>
              </a:rPr>
              <a:t>Sistema integral para digitalizar la operación interna del taller.</a:t>
            </a:r>
            <a:endParaRPr sz="3000" i="0" u="none" strike="noStrike" cap="none">
              <a:solidFill>
                <a:srgbClr val="355286"/>
              </a:solidFill>
            </a:endParaRPr>
          </a:p>
        </p:txBody>
      </p:sp>
      <p:sp>
        <p:nvSpPr>
          <p:cNvPr id="133" name="Google Shape;133;p5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355286"/>
                </a:solidFill>
              </a:rPr>
              <a:t>6</a:t>
            </a:fld>
            <a:r>
              <a:rPr lang="en-US" sz="2400" b="1">
                <a:solidFill>
                  <a:srgbClr val="355286"/>
                </a:solidFill>
              </a:rPr>
              <a:t> / 16</a:t>
            </a:r>
            <a:endParaRPr sz="2400" b="1">
              <a:solidFill>
                <a:srgbClr val="355286"/>
              </a:solidFill>
            </a:endParaRPr>
          </a:p>
        </p:txBody>
      </p:sp>
      <p:grpSp>
        <p:nvGrpSpPr>
          <p:cNvPr id="134" name="Google Shape;134;p5"/>
          <p:cNvGrpSpPr/>
          <p:nvPr/>
        </p:nvGrpSpPr>
        <p:grpSpPr>
          <a:xfrm>
            <a:off x="1628750" y="3638550"/>
            <a:ext cx="11177625" cy="1805900"/>
            <a:chOff x="919475" y="3695700"/>
            <a:chExt cx="11177625" cy="1805900"/>
          </a:xfrm>
        </p:grpSpPr>
        <p:pic>
          <p:nvPicPr>
            <p:cNvPr id="135" name="Google Shape;135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19475" y="3695700"/>
              <a:ext cx="1805900" cy="180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5"/>
            <p:cNvSpPr txBox="1"/>
            <p:nvPr/>
          </p:nvSpPr>
          <p:spPr>
            <a:xfrm>
              <a:off x="3032000" y="3772600"/>
              <a:ext cx="9065100" cy="165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355286"/>
                  </a:solidFill>
                </a:rPr>
                <a:t>Módulo de Pedidos</a:t>
              </a:r>
              <a:endParaRPr sz="3000"/>
            </a:p>
            <a:p>
              <a:pPr marL="0" marR="0" lvl="0" indent="0" algn="just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US" sz="3000" i="0" u="none" strike="noStrike" cap="none">
                  <a:solidFill>
                    <a:srgbClr val="355286"/>
                  </a:solidFill>
                </a:rPr>
                <a:t>Captura estructurada de órdenes con fichas técnicas dinámicas (tallas, cortes y personalizaciones).</a:t>
              </a:r>
              <a:endParaRPr sz="3000" i="0" u="none" strike="noStrike" cap="none">
                <a:solidFill>
                  <a:srgbClr val="355286"/>
                </a:solidFill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1542838" y="5907150"/>
            <a:ext cx="11263350" cy="1811425"/>
            <a:chOff x="790550" y="5922725"/>
            <a:chExt cx="11263350" cy="1811425"/>
          </a:xfrm>
        </p:grpSpPr>
        <p:pic>
          <p:nvPicPr>
            <p:cNvPr id="138" name="Google Shape;138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0550" y="5928250"/>
              <a:ext cx="1805900" cy="180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5"/>
            <p:cNvSpPr txBox="1"/>
            <p:nvPr/>
          </p:nvSpPr>
          <p:spPr>
            <a:xfrm>
              <a:off x="2989100" y="5922725"/>
              <a:ext cx="9064800" cy="165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355286"/>
                  </a:solidFill>
                </a:rPr>
                <a:t>Panel de Control y Roles</a:t>
              </a:r>
              <a:endParaRPr sz="3000"/>
            </a:p>
            <a:p>
              <a:pPr marL="0" marR="0" lvl="0" indent="0" algn="just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US" sz="3000" i="0" u="none" strike="noStrike" cap="none">
                  <a:solidFill>
                    <a:srgbClr val="355286"/>
                  </a:solidFill>
                </a:rPr>
                <a:t>Interfaces a medida para Jefa de Taller, Cortadoras y Operarias para actualización de estados en un clic.</a:t>
              </a:r>
              <a:endParaRPr sz="3000" i="0" u="none" strike="noStrike" cap="none">
                <a:solidFill>
                  <a:srgbClr val="355286"/>
                </a:solidFill>
              </a:endParaRPr>
            </a:p>
          </p:txBody>
        </p:sp>
      </p:grpSp>
      <p:grpSp>
        <p:nvGrpSpPr>
          <p:cNvPr id="140" name="Google Shape;140;p5"/>
          <p:cNvGrpSpPr/>
          <p:nvPr/>
        </p:nvGrpSpPr>
        <p:grpSpPr>
          <a:xfrm>
            <a:off x="1628750" y="8181275"/>
            <a:ext cx="11177550" cy="1805900"/>
            <a:chOff x="790550" y="8238425"/>
            <a:chExt cx="11177550" cy="1805900"/>
          </a:xfrm>
        </p:grpSpPr>
        <p:pic>
          <p:nvPicPr>
            <p:cNvPr id="141" name="Google Shape;141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90550" y="8238425"/>
              <a:ext cx="1805900" cy="180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5"/>
            <p:cNvSpPr txBox="1"/>
            <p:nvPr/>
          </p:nvSpPr>
          <p:spPr>
            <a:xfrm>
              <a:off x="3032000" y="8238425"/>
              <a:ext cx="8936100" cy="165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355286"/>
                  </a:solidFill>
                </a:rPr>
                <a:t>Trazabilidad Inteligente</a:t>
              </a:r>
              <a:endParaRPr sz="3000" b="1">
                <a:solidFill>
                  <a:srgbClr val="355286"/>
                </a:solidFill>
              </a:endParaRPr>
            </a:p>
            <a:p>
              <a:pPr marL="0" marR="0" lvl="0" indent="0" algn="just" rtl="0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US" sz="3000" i="0" u="none" strike="noStrike" cap="none">
                  <a:solidFill>
                    <a:srgbClr val="355286"/>
                  </a:solidFill>
                </a:rPr>
                <a:t>Dashboard visual con métricas de avance y asistencia con IA para reportes del taller.</a:t>
              </a:r>
              <a:endParaRPr sz="3000" i="0" u="none" strike="noStrike" cap="none">
                <a:solidFill>
                  <a:srgbClr val="355286"/>
                </a:solidFill>
              </a:endParaRPr>
            </a:p>
          </p:txBody>
        </p:sp>
      </p:grpSp>
      <p:pic>
        <p:nvPicPr>
          <p:cNvPr id="143" name="Google Shape;143;p5"/>
          <p:cNvPicPr preferRelativeResize="0"/>
          <p:nvPr/>
        </p:nvPicPr>
        <p:blipFill rotWithShape="1">
          <a:blip r:embed="rId6">
            <a:alphaModFix/>
          </a:blip>
          <a:srcRect t="2584" b="1354"/>
          <a:stretch/>
        </p:blipFill>
        <p:spPr>
          <a:xfrm rot="10800000">
            <a:off x="13393500" y="-175"/>
            <a:ext cx="4894500" cy="6531600"/>
          </a:xfrm>
          <a:prstGeom prst="triangle">
            <a:avLst>
              <a:gd name="adj" fmla="val 0"/>
            </a:avLst>
          </a:prstGeom>
          <a:noFill/>
          <a:ln>
            <a:noFill/>
          </a:ln>
          <a:effectLst>
            <a:outerShdw blurRad="142875" dist="9525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/>
        </p:nvSpPr>
        <p:spPr>
          <a:xfrm>
            <a:off x="767626" y="912125"/>
            <a:ext cx="10672200" cy="27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5. </a:t>
            </a:r>
            <a:r>
              <a:rPr lang="en-US" sz="8600" b="0" i="0" u="none" strike="noStrike" cap="none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REQUERIMIENTOS FUNCIONALES</a:t>
            </a:r>
            <a:endParaRPr sz="8600"/>
          </a:p>
        </p:txBody>
      </p:sp>
      <p:sp>
        <p:nvSpPr>
          <p:cNvPr id="149" name="Google Shape;149;p6"/>
          <p:cNvSpPr txBox="1"/>
          <p:nvPr/>
        </p:nvSpPr>
        <p:spPr>
          <a:xfrm>
            <a:off x="709250" y="4037500"/>
            <a:ext cx="9417300" cy="49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8112" marR="0" lvl="1" indent="-31574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Char char="•"/>
            </a:pPr>
            <a:r>
              <a:rPr lang="en-US" sz="3000" b="1" i="0" u="none" strike="noStrike" cap="none">
                <a:solidFill>
                  <a:srgbClr val="355286"/>
                </a:solidFill>
              </a:rPr>
              <a:t>Gestión de Clientes: </a:t>
            </a:r>
            <a:r>
              <a:rPr lang="en-US" sz="3000">
                <a:solidFill>
                  <a:srgbClr val="355286"/>
                </a:solidFill>
              </a:rPr>
              <a:t>Permite registrar, consultar y actualizar la información de los clientes frecuentes del taller.</a:t>
            </a:r>
            <a:endParaRPr sz="3000" i="0" u="none" strike="noStrike" cap="none">
              <a:solidFill>
                <a:srgbClr val="355286"/>
              </a:solidFill>
            </a:endParaRPr>
          </a:p>
          <a:p>
            <a:pPr marL="608112" marR="0" lvl="1" indent="-31574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55286"/>
              </a:buClr>
              <a:buSzPts val="3000"/>
              <a:buChar char="•"/>
            </a:pPr>
            <a:r>
              <a:rPr lang="en-US" sz="3000" b="1" i="0" u="none" strike="noStrike" cap="none">
                <a:solidFill>
                  <a:srgbClr val="355286"/>
                </a:solidFill>
              </a:rPr>
              <a:t>Registro de Trabajo Realizado: </a:t>
            </a:r>
            <a:r>
              <a:rPr lang="en-US" sz="3000" i="0" u="none" strike="noStrike" cap="none">
                <a:solidFill>
                  <a:srgbClr val="355286"/>
                </a:solidFill>
              </a:rPr>
              <a:t>Permite registrar los trabajos realizados a cada cliente, incluyendo información relevante sobre el servicio efectuado.</a:t>
            </a:r>
            <a:endParaRPr sz="3000" i="0" u="none" strike="noStrike" cap="none">
              <a:solidFill>
                <a:srgbClr val="355286"/>
              </a:solidFill>
            </a:endParaRPr>
          </a:p>
          <a:p>
            <a:pPr marL="608112" marR="0" lvl="1" indent="-31574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355286"/>
              </a:buClr>
              <a:buSzPts val="3000"/>
              <a:buChar char="•"/>
            </a:pPr>
            <a:r>
              <a:rPr lang="en-US" sz="3000" b="1" i="0" u="none" strike="noStrike" cap="none">
                <a:solidFill>
                  <a:srgbClr val="355286"/>
                </a:solidFill>
              </a:rPr>
              <a:t>Visibilidad de redes sociales: </a:t>
            </a:r>
            <a:r>
              <a:rPr lang="en-US" sz="3000" i="0" u="none" strike="noStrike" cap="none">
                <a:solidFill>
                  <a:srgbClr val="355286"/>
                </a:solidFill>
              </a:rPr>
              <a:t>Permite a los clientes acceder fácilmente a las redes sociales del taller mediante enlaces visibles dentro del sistema.</a:t>
            </a:r>
            <a:endParaRPr sz="3000" i="0" u="none" strike="noStrike" cap="none">
              <a:solidFill>
                <a:srgbClr val="355286"/>
              </a:solidFill>
            </a:endParaRPr>
          </a:p>
        </p:txBody>
      </p:sp>
      <p:sp>
        <p:nvSpPr>
          <p:cNvPr id="150" name="Google Shape;150;p6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355286"/>
                </a:solidFill>
              </a:rPr>
              <a:t>7</a:t>
            </a:fld>
            <a:r>
              <a:rPr lang="en-US" sz="2400" b="1">
                <a:solidFill>
                  <a:srgbClr val="355286"/>
                </a:solidFill>
              </a:rPr>
              <a:t> / 16</a:t>
            </a:r>
            <a:endParaRPr sz="2400" b="1">
              <a:solidFill>
                <a:srgbClr val="355286"/>
              </a:solidFill>
            </a:endParaRPr>
          </a:p>
        </p:txBody>
      </p:sp>
      <p:pic>
        <p:nvPicPr>
          <p:cNvPr id="151" name="Google Shape;15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7875" y="3934050"/>
            <a:ext cx="4268300" cy="426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8addd4091_0_16"/>
          <p:cNvSpPr txBox="1"/>
          <p:nvPr/>
        </p:nvSpPr>
        <p:spPr>
          <a:xfrm>
            <a:off x="767625" y="912125"/>
            <a:ext cx="10526100" cy="27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6. </a:t>
            </a:r>
            <a:r>
              <a:rPr lang="en-US" sz="8600" b="0" i="0" u="none" strike="noStrike" cap="none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REQUERIMIENTOS NO FUNCIONALES</a:t>
            </a:r>
            <a:endParaRPr sz="8600"/>
          </a:p>
        </p:txBody>
      </p:sp>
      <p:sp>
        <p:nvSpPr>
          <p:cNvPr id="157" name="Google Shape;157;g3f8addd4091_0_16"/>
          <p:cNvSpPr txBox="1"/>
          <p:nvPr/>
        </p:nvSpPr>
        <p:spPr>
          <a:xfrm>
            <a:off x="767625" y="4037500"/>
            <a:ext cx="9884100" cy="4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8112" marR="0" lvl="1" indent="-31574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Char char="•"/>
            </a:pPr>
            <a:r>
              <a:rPr lang="en-US" sz="3000" b="1">
                <a:solidFill>
                  <a:srgbClr val="355286"/>
                </a:solidFill>
              </a:rPr>
              <a:t>Seguridad</a:t>
            </a:r>
            <a:r>
              <a:rPr lang="en-US" sz="3000">
                <a:solidFill>
                  <a:srgbClr val="355286"/>
                </a:solidFill>
              </a:rPr>
              <a:t>: El sistema debe proteger las credenciales de los usuarios mediante almacenamiento seguro de contraseñas y autenticación.</a:t>
            </a:r>
            <a:endParaRPr sz="3000">
              <a:solidFill>
                <a:srgbClr val="355286"/>
              </a:solidFill>
            </a:endParaRPr>
          </a:p>
          <a:p>
            <a:pPr marL="608112" marR="0" lvl="1" indent="-31574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55286"/>
              </a:buClr>
              <a:buSzPts val="3000"/>
              <a:buChar char="•"/>
            </a:pPr>
            <a:r>
              <a:rPr lang="en-US" sz="3000" b="1">
                <a:solidFill>
                  <a:srgbClr val="355286"/>
                </a:solidFill>
              </a:rPr>
              <a:t>Control de acceso</a:t>
            </a:r>
            <a:r>
              <a:rPr lang="en-US" sz="3000">
                <a:solidFill>
                  <a:srgbClr val="355286"/>
                </a:solidFill>
              </a:rPr>
              <a:t>: El sistema debe restringir el acceso a las funciones según el rol del usuario.</a:t>
            </a:r>
            <a:endParaRPr sz="3000">
              <a:solidFill>
                <a:srgbClr val="355286"/>
              </a:solidFill>
            </a:endParaRPr>
          </a:p>
          <a:p>
            <a:pPr marL="608112" marR="0" lvl="1" indent="-31574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355286"/>
              </a:buClr>
              <a:buSzPts val="3000"/>
              <a:buChar char="•"/>
            </a:pPr>
            <a:r>
              <a:rPr lang="en-US" sz="3000" b="1">
                <a:solidFill>
                  <a:srgbClr val="355286"/>
                </a:solidFill>
              </a:rPr>
              <a:t>Trazabilidad</a:t>
            </a:r>
            <a:r>
              <a:rPr lang="en-US" sz="3000">
                <a:solidFill>
                  <a:srgbClr val="355286"/>
                </a:solidFill>
              </a:rPr>
              <a:t>: Cada trabajo registrado debe conservar información sobre quién lo registró y cuándo fue realizado.</a:t>
            </a:r>
            <a:endParaRPr sz="3000">
              <a:solidFill>
                <a:srgbClr val="355286"/>
              </a:solidFill>
            </a:endParaRPr>
          </a:p>
        </p:txBody>
      </p:sp>
      <p:sp>
        <p:nvSpPr>
          <p:cNvPr id="158" name="Google Shape;158;g3f8addd4091_0_16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355286"/>
                </a:solidFill>
              </a:rPr>
              <a:t>8</a:t>
            </a:fld>
            <a:r>
              <a:rPr lang="en-US" sz="2400" b="1">
                <a:solidFill>
                  <a:srgbClr val="355286"/>
                </a:solidFill>
              </a:rPr>
              <a:t> / 16</a:t>
            </a:r>
            <a:endParaRPr sz="2400" b="1">
              <a:solidFill>
                <a:srgbClr val="355286"/>
              </a:solidFill>
            </a:endParaRPr>
          </a:p>
        </p:txBody>
      </p:sp>
      <p:pic>
        <p:nvPicPr>
          <p:cNvPr id="159" name="Google Shape;159;g3f8addd4091_0_16"/>
          <p:cNvPicPr preferRelativeResize="0"/>
          <p:nvPr/>
        </p:nvPicPr>
        <p:blipFill rotWithShape="1">
          <a:blip r:embed="rId3">
            <a:alphaModFix/>
          </a:blip>
          <a:srcRect l="7429" r="8622"/>
          <a:stretch/>
        </p:blipFill>
        <p:spPr>
          <a:xfrm>
            <a:off x="13257800" y="3774325"/>
            <a:ext cx="3458550" cy="41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8aea27ec5_3_23"/>
          <p:cNvSpPr txBox="1"/>
          <p:nvPr/>
        </p:nvSpPr>
        <p:spPr>
          <a:xfrm>
            <a:off x="1231600" y="889725"/>
            <a:ext cx="49845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7. </a:t>
            </a:r>
            <a:r>
              <a:rPr lang="en-US" sz="8600" b="0" i="0" u="none" strike="noStrike" cap="none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EPICAS</a:t>
            </a:r>
            <a:endParaRPr sz="8600"/>
          </a:p>
        </p:txBody>
      </p:sp>
      <p:sp>
        <p:nvSpPr>
          <p:cNvPr id="165" name="Google Shape;165;g3f8aea27ec5_3_23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355286"/>
                </a:solidFill>
              </a:rPr>
              <a:t>9</a:t>
            </a:fld>
            <a:r>
              <a:rPr lang="en-US" sz="2400" b="1">
                <a:solidFill>
                  <a:srgbClr val="355286"/>
                </a:solidFill>
              </a:rPr>
              <a:t> / 16</a:t>
            </a:r>
            <a:endParaRPr sz="2400" b="1">
              <a:solidFill>
                <a:srgbClr val="355286"/>
              </a:solidFill>
            </a:endParaRPr>
          </a:p>
        </p:txBody>
      </p:sp>
      <p:pic>
        <p:nvPicPr>
          <p:cNvPr id="166" name="Google Shape;166;g3f8aea27ec5_3_23"/>
          <p:cNvPicPr preferRelativeResize="0"/>
          <p:nvPr/>
        </p:nvPicPr>
        <p:blipFill rotWithShape="1">
          <a:blip r:embed="rId3">
            <a:alphaModFix/>
          </a:blip>
          <a:srcRect l="16096" r="16015"/>
          <a:stretch/>
        </p:blipFill>
        <p:spPr>
          <a:xfrm>
            <a:off x="14724350" y="3465550"/>
            <a:ext cx="2568475" cy="3783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" name="Google Shape;167;g3f8aea27ec5_3_23"/>
          <p:cNvGraphicFramePr/>
          <p:nvPr/>
        </p:nvGraphicFramePr>
        <p:xfrm>
          <a:off x="889400" y="2994738"/>
          <a:ext cx="12661425" cy="4373760"/>
        </p:xfrm>
        <a:graphic>
          <a:graphicData uri="http://schemas.openxmlformats.org/drawingml/2006/table">
            <a:tbl>
              <a:tblPr>
                <a:noFill/>
                <a:tableStyleId>{BE09CD25-D34A-443F-A57C-1B455804B1C0}</a:tableStyleId>
              </a:tblPr>
              <a:tblGrid>
                <a:gridCol w="309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355286"/>
                          </a:solidFill>
                        </a:rPr>
                        <a:t>Gestión de pedidos</a:t>
                      </a:r>
                      <a:endParaRPr sz="2400" b="1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solidFill>
                            <a:srgbClr val="355286"/>
                          </a:solidFill>
                        </a:rPr>
                        <a:t>Permitir registrar y administrar los pedidos realizados en el taller, manteniendo un respaldo de la información asociada a cada uno.</a:t>
                      </a:r>
                      <a:endParaRPr sz="24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355286"/>
                          </a:solidFill>
                        </a:rPr>
                        <a:t>Gestión de tareas y trabajadores</a:t>
                      </a:r>
                      <a:endParaRPr sz="2400" b="1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solidFill>
                            <a:srgbClr val="355286"/>
                          </a:solidFill>
                        </a:rPr>
                        <a:t>Permitir a la jefa del taller organizar y asignar las tareas a los trabajadores para mantener un mejor control de las actividades.</a:t>
                      </a:r>
                      <a:endParaRPr sz="24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355286"/>
                          </a:solidFill>
                        </a:rPr>
                        <a:t>Seguimiento de trabajos realizados</a:t>
                      </a:r>
                      <a:endParaRPr sz="2400" b="1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solidFill>
                            <a:srgbClr val="355286"/>
                          </a:solidFill>
                        </a:rPr>
                        <a:t>Permitir a la jefa supervisar las tareas realizadas por los trabajadores, conocer su estado y llevar un control de las labores efectuadas.</a:t>
                      </a:r>
                      <a:endParaRPr sz="24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355286"/>
                          </a:solidFill>
                        </a:rPr>
                        <a:t>Información del taller</a:t>
                      </a:r>
                      <a:endParaRPr sz="2400" b="1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solidFill>
                            <a:srgbClr val="355286"/>
                          </a:solidFill>
                        </a:rPr>
                        <a:t>Permitir a los clientes acceder fácilmente a información relevante del taller, como sus redes sociales y otros medios de contacto.</a:t>
                      </a:r>
                      <a:endParaRPr sz="24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7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9" y="-426362"/>
            <a:ext cx="18288000" cy="1197806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1268400" y="613675"/>
            <a:ext cx="133599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8. HISTORIAS DE USUARIO</a:t>
            </a:r>
            <a:endParaRPr sz="8600"/>
          </a:p>
        </p:txBody>
      </p:sp>
      <p:sp>
        <p:nvSpPr>
          <p:cNvPr id="174" name="Google Shape;174;p7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355286"/>
                </a:solidFill>
              </a:rPr>
              <a:t>10</a:t>
            </a:fld>
            <a:r>
              <a:rPr lang="en-US" sz="2400" b="1">
                <a:solidFill>
                  <a:srgbClr val="355286"/>
                </a:solidFill>
              </a:rPr>
              <a:t> / 16</a:t>
            </a:r>
            <a:endParaRPr sz="2400" b="1">
              <a:solidFill>
                <a:srgbClr val="355286"/>
              </a:solidFill>
            </a:endParaRPr>
          </a:p>
        </p:txBody>
      </p:sp>
      <p:graphicFrame>
        <p:nvGraphicFramePr>
          <p:cNvPr id="175" name="Google Shape;175;p7"/>
          <p:cNvGraphicFramePr/>
          <p:nvPr/>
        </p:nvGraphicFramePr>
        <p:xfrm>
          <a:off x="672425" y="2097825"/>
          <a:ext cx="15950375" cy="6985941"/>
        </p:xfrm>
        <a:graphic>
          <a:graphicData uri="http://schemas.openxmlformats.org/drawingml/2006/table">
            <a:tbl>
              <a:tblPr>
                <a:noFill/>
                <a:tableStyleId>{BE09CD25-D34A-443F-A57C-1B455804B1C0}</a:tableStyleId>
              </a:tblPr>
              <a:tblGrid>
                <a:gridCol w="298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1600">
                <a:tc rowSpan="4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355286"/>
                          </a:solidFill>
                        </a:rPr>
                        <a:t>Organización de tareas del taller</a:t>
                      </a:r>
                      <a:endParaRPr sz="2000" b="1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Jefa de taller quiero integrar recordatorios de Google Calendar para gestionar los plazos de entrega.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62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Jefa de taller quiero cambiar el estado de las tareas (pendiente, en proceso, finalizada) para llevar un control visual del avance.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Jefa de taller quiero adjuntar notas o instrucciones específicas a cada tarea asignada para evitar errores en la ejecución del trabajo.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Jefa de taller quiero definir el estado de entrega de los pedidos para diferenciar cuándo una prenda está finalizada o si ha sido entregada al cliente.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355286"/>
                          </a:solidFill>
                        </a:rPr>
                        <a:t>Toma de pedidos</a:t>
                      </a:r>
                      <a:endParaRPr sz="2000" b="1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Jefa de taller, quiero registrar los pedidos de los clientes, para mantener un control organizado de los trabajos solicitados.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Jefa de taller, quiero poder consultar los pedidos registrados y sus detalles, para acceder fácilmente a la información de cada trabajo cuando la necesite.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Jefa de taller, quiero mantener un registro de los pedidos realizados, para contar con un respaldo de los detalles acordados con cada cliente y evitar la pérdida de información.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Jefa de taller, quiero poder actualizar el estado de los pedidos, para saber qué trabajos están pendientes, en proceso o terminados y así llevar un mejor control de las tareas del taller.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Jefa de taller, quiero poder registrar un tipo de prenda para poder mantener los catálogos organizados.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g3fa289fd54d_1_9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9" y="-426362"/>
            <a:ext cx="18288000" cy="1197806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fa289fd54d_1_9"/>
          <p:cNvSpPr txBox="1"/>
          <p:nvPr/>
        </p:nvSpPr>
        <p:spPr>
          <a:xfrm>
            <a:off x="1268400" y="613675"/>
            <a:ext cx="133599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8. HISTORIAS DE USUARIO</a:t>
            </a:r>
            <a:endParaRPr sz="8600"/>
          </a:p>
        </p:txBody>
      </p:sp>
      <p:sp>
        <p:nvSpPr>
          <p:cNvPr id="182" name="Google Shape;182;g3fa289fd54d_1_9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355286"/>
                </a:solidFill>
              </a:rPr>
              <a:t>11</a:t>
            </a:fld>
            <a:r>
              <a:rPr lang="en-US" sz="2400" b="1">
                <a:solidFill>
                  <a:srgbClr val="355286"/>
                </a:solidFill>
              </a:rPr>
              <a:t> / 16</a:t>
            </a:r>
            <a:endParaRPr sz="2400" b="1">
              <a:solidFill>
                <a:srgbClr val="355286"/>
              </a:solidFill>
            </a:endParaRPr>
          </a:p>
        </p:txBody>
      </p:sp>
      <p:graphicFrame>
        <p:nvGraphicFramePr>
          <p:cNvPr id="183" name="Google Shape;183;g3fa289fd54d_1_9"/>
          <p:cNvGraphicFramePr/>
          <p:nvPr/>
        </p:nvGraphicFramePr>
        <p:xfrm>
          <a:off x="672425" y="2097825"/>
          <a:ext cx="15950375" cy="6482352"/>
        </p:xfrm>
        <a:graphic>
          <a:graphicData uri="http://schemas.openxmlformats.org/drawingml/2006/table">
            <a:tbl>
              <a:tblPr>
                <a:noFill/>
                <a:tableStyleId>{BE09CD25-D34A-443F-A57C-1B455804B1C0}</a:tableStyleId>
              </a:tblPr>
              <a:tblGrid>
                <a:gridCol w="298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355286"/>
                          </a:solidFill>
                        </a:rPr>
                        <a:t>Registro de tareas realizadas</a:t>
                      </a:r>
                      <a:endParaRPr sz="2000" b="1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Jefa de taller, quiero poder registrar las tareas realizadas por cada trabajador, para mantener un control de las labores efectuadas.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Jefa de taller, quiero poder visualizar las tareas realizadas por cada trabajador, para conocer las actividades que ha completado cada uno.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Jefa de taller, quiero poder identificar qué trabajos han sido finalizados, para llevar un mejor seguimiento del avance de los pedidos.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355286"/>
                          </a:solidFill>
                        </a:rPr>
                        <a:t>Estimación de precios</a:t>
                      </a:r>
                      <a:endParaRPr sz="2000" b="1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Dueña de la empresa quiero que los clientes puedan consultar los precios de los servicios de forma autónoma, para evitar tener que responder constantemente preguntas sobre los precios y poder dedicar más tiempo a otras actividades del taller.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355286"/>
                          </a:solidFill>
                        </a:rPr>
                        <a:t>Visibilidad</a:t>
                      </a:r>
                      <a:endParaRPr sz="2000" b="1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cliente quiero poder visitar las redes sociales del taller, para conocer sus servicios y ver sus trabajos realizados para tener una referencia de estos.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cliente, quiero poder acceder a los diferentes medios de comunicación disponibles con la jefa de taller, para poder realizar consultas, solicitar información y mantener una comunicación más rápida y eficaz.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cliente quiero ver fotos de los trabajos realizados para comprobar la calidad del servicio.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solidFill>
                            <a:srgbClr val="355286"/>
                          </a:solidFill>
                        </a:rPr>
                        <a:t>Como cliente quiero ver los precios y tarifas de los servicios para evaluar si se ajustan a mi presupuesto.</a:t>
                      </a:r>
                      <a:endParaRPr sz="2000">
                        <a:solidFill>
                          <a:srgbClr val="355286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/>
        </p:nvSpPr>
        <p:spPr>
          <a:xfrm>
            <a:off x="1028700" y="622005"/>
            <a:ext cx="16230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9. </a:t>
            </a:r>
            <a:r>
              <a:rPr lang="en-US" sz="8600" b="0" i="0" u="none" strike="noStrike" cap="none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ARQUITECTURA</a:t>
            </a:r>
            <a:endParaRPr sz="8600"/>
          </a:p>
        </p:txBody>
      </p:sp>
      <p:sp>
        <p:nvSpPr>
          <p:cNvPr id="189" name="Google Shape;189;p9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355286"/>
                </a:solidFill>
              </a:rPr>
              <a:t>12</a:t>
            </a:fld>
            <a:r>
              <a:rPr lang="en-US" sz="2400" b="1">
                <a:solidFill>
                  <a:srgbClr val="355286"/>
                </a:solidFill>
              </a:rPr>
              <a:t> / 16</a:t>
            </a:r>
            <a:endParaRPr sz="2400" b="1">
              <a:solidFill>
                <a:srgbClr val="355286"/>
              </a:solidFill>
            </a:endParaRPr>
          </a:p>
        </p:txBody>
      </p:sp>
      <p:pic>
        <p:nvPicPr>
          <p:cNvPr id="190" name="Google Shape;19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7287" y="1945600"/>
            <a:ext cx="8213438" cy="817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0" title="WhatsApp Image 2026-08-30 at 14.25.19 (1)(1).jpe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572747" y="-5"/>
            <a:ext cx="7715258" cy="10287000"/>
          </a:xfrm>
          <a:prstGeom prst="rect">
            <a:avLst/>
          </a:prstGeom>
          <a:noFill/>
          <a:ln>
            <a:noFill/>
          </a:ln>
          <a:effectLst>
            <a:outerShdw blurRad="142875" dist="9525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96" name="Google Shape;196;p10"/>
          <p:cNvSpPr txBox="1"/>
          <p:nvPr/>
        </p:nvSpPr>
        <p:spPr>
          <a:xfrm>
            <a:off x="498575" y="911525"/>
            <a:ext cx="95064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10. </a:t>
            </a:r>
            <a:r>
              <a:rPr lang="en-US" sz="8600" b="0" i="0" u="none" strike="noStrike" cap="none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METODOLOGÍA</a:t>
            </a:r>
            <a:endParaRPr sz="8600"/>
          </a:p>
        </p:txBody>
      </p:sp>
      <p:sp>
        <p:nvSpPr>
          <p:cNvPr id="197" name="Google Shape;197;p10"/>
          <p:cNvSpPr txBox="1"/>
          <p:nvPr/>
        </p:nvSpPr>
        <p:spPr>
          <a:xfrm>
            <a:off x="935900" y="2727050"/>
            <a:ext cx="8927100" cy="68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19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5286"/>
              </a:buClr>
              <a:buSzPts val="3000"/>
              <a:buChar char="●"/>
            </a:pPr>
            <a:r>
              <a:rPr lang="en-US" sz="3000" i="0" u="none" strike="noStrike" cap="none">
                <a:solidFill>
                  <a:srgbClr val="355286"/>
                </a:solidFill>
              </a:rPr>
              <a:t>Scrum como metodología principal de desarrollo de ágil que divide </a:t>
            </a:r>
            <a:r>
              <a:rPr lang="en-US" sz="3000">
                <a:solidFill>
                  <a:srgbClr val="355286"/>
                </a:solidFill>
              </a:rPr>
              <a:t>grandes tareas</a:t>
            </a:r>
            <a:r>
              <a:rPr lang="en-US" sz="3000" i="0" u="none" strike="noStrike" cap="none">
                <a:solidFill>
                  <a:srgbClr val="355286"/>
                </a:solidFill>
              </a:rPr>
              <a:t> </a:t>
            </a:r>
            <a:r>
              <a:rPr lang="en-US" sz="3000">
                <a:solidFill>
                  <a:srgbClr val="355286"/>
                </a:solidFill>
              </a:rPr>
              <a:t>en pequeñas partes </a:t>
            </a:r>
            <a:r>
              <a:rPr lang="en-US" sz="3000" i="0" u="none" strike="noStrike" cap="none">
                <a:solidFill>
                  <a:srgbClr val="355286"/>
                </a:solidFill>
              </a:rPr>
              <a:t>en ciclos cortos</a:t>
            </a:r>
            <a:r>
              <a:rPr lang="en-US" sz="3000">
                <a:solidFill>
                  <a:srgbClr val="355286"/>
                </a:solidFill>
              </a:rPr>
              <a:t>.</a:t>
            </a:r>
            <a:endParaRPr sz="3000">
              <a:solidFill>
                <a:srgbClr val="355286"/>
              </a:solidFill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000">
              <a:solidFill>
                <a:srgbClr val="355286"/>
              </a:solidFill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55286"/>
              </a:buClr>
              <a:buSzPts val="3000"/>
              <a:buChar char="●"/>
            </a:pPr>
            <a:r>
              <a:rPr lang="en-US" sz="3000">
                <a:solidFill>
                  <a:srgbClr val="355286"/>
                </a:solidFill>
              </a:rPr>
              <a:t>Kanban para la gestión del estado y visualización de las tareas del proyecto.</a:t>
            </a:r>
            <a:endParaRPr sz="3000">
              <a:solidFill>
                <a:srgbClr val="355286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000">
              <a:solidFill>
                <a:srgbClr val="355286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000">
                <a:solidFill>
                  <a:srgbClr val="355286"/>
                </a:solidFill>
              </a:rPr>
              <a:t>Esta combinación permitirá desarrollar el sistema de manera incremental y mantener un seguimiento constante del avance para adaptarse a los cambios o nuevas necesidades que puedan surgir durante el desarrollo.</a:t>
            </a:r>
            <a:endParaRPr sz="3000">
              <a:solidFill>
                <a:srgbClr val="355286"/>
              </a:solidFill>
            </a:endParaRPr>
          </a:p>
        </p:txBody>
      </p:sp>
      <p:sp>
        <p:nvSpPr>
          <p:cNvPr id="198" name="Google Shape;198;p10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355286"/>
                </a:solidFill>
              </a:rPr>
              <a:t>13</a:t>
            </a:fld>
            <a:r>
              <a:rPr lang="en-US" sz="2400" b="1">
                <a:solidFill>
                  <a:srgbClr val="355286"/>
                </a:solidFill>
              </a:rPr>
              <a:t> / 16</a:t>
            </a:r>
            <a:endParaRPr sz="2400" b="1">
              <a:solidFill>
                <a:srgbClr val="355286"/>
              </a:solidFill>
            </a:endParaRPr>
          </a:p>
        </p:txBody>
      </p:sp>
      <p:pic>
        <p:nvPicPr>
          <p:cNvPr id="199" name="Google Shape;19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12025" y="5547175"/>
            <a:ext cx="3528324" cy="3528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75250" y="1477850"/>
            <a:ext cx="44958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/>
        </p:nvSpPr>
        <p:spPr>
          <a:xfrm>
            <a:off x="886669" y="639264"/>
            <a:ext cx="16230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11. </a:t>
            </a:r>
            <a:r>
              <a:rPr lang="en-US" sz="8600" i="0" u="none" strike="noStrike" cap="none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SCRUM TEAM</a:t>
            </a:r>
            <a:endParaRPr sz="8600"/>
          </a:p>
        </p:txBody>
      </p:sp>
      <p:grpSp>
        <p:nvGrpSpPr>
          <p:cNvPr id="206" name="Google Shape;206;p11"/>
          <p:cNvGrpSpPr/>
          <p:nvPr/>
        </p:nvGrpSpPr>
        <p:grpSpPr>
          <a:xfrm>
            <a:off x="1557794" y="3000213"/>
            <a:ext cx="3086400" cy="4286575"/>
            <a:chOff x="1727238" y="3000213"/>
            <a:chExt cx="3086400" cy="4286575"/>
          </a:xfrm>
        </p:grpSpPr>
        <p:pic>
          <p:nvPicPr>
            <p:cNvPr id="207" name="Google Shape;207;p11" title="WhatsApp Image 2026-08-25 at 13.30.26.jpe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27238" y="3000213"/>
              <a:ext cx="3086400" cy="30864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08" name="Google Shape;208;p11"/>
            <p:cNvSpPr txBox="1"/>
            <p:nvPr/>
          </p:nvSpPr>
          <p:spPr>
            <a:xfrm>
              <a:off x="1776738" y="6178588"/>
              <a:ext cx="29874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>
                  <a:solidFill>
                    <a:schemeClr val="dk2"/>
                  </a:solidFill>
                </a:rPr>
                <a:t>Product Owner</a:t>
              </a:r>
              <a:endParaRPr sz="3000" b="1">
                <a:solidFill>
                  <a:schemeClr val="dk2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dk2"/>
                  </a:solidFill>
                </a:rPr>
                <a:t>Carolina Palma</a:t>
              </a:r>
              <a:endParaRPr sz="3000">
                <a:solidFill>
                  <a:schemeClr val="dk2"/>
                </a:solidFill>
              </a:endParaRPr>
            </a:p>
          </p:txBody>
        </p:sp>
      </p:grpSp>
      <p:grpSp>
        <p:nvGrpSpPr>
          <p:cNvPr id="209" name="Google Shape;209;p11"/>
          <p:cNvGrpSpPr/>
          <p:nvPr/>
        </p:nvGrpSpPr>
        <p:grpSpPr>
          <a:xfrm>
            <a:off x="5405760" y="3000213"/>
            <a:ext cx="3165300" cy="4284775"/>
            <a:chOff x="5703838" y="3000213"/>
            <a:chExt cx="3165300" cy="4284775"/>
          </a:xfrm>
        </p:grpSpPr>
        <p:sp>
          <p:nvSpPr>
            <p:cNvPr id="210" name="Google Shape;210;p11"/>
            <p:cNvSpPr txBox="1"/>
            <p:nvPr/>
          </p:nvSpPr>
          <p:spPr>
            <a:xfrm>
              <a:off x="5703838" y="6176788"/>
              <a:ext cx="31653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>
                  <a:solidFill>
                    <a:schemeClr val="dk2"/>
                  </a:solidFill>
                </a:rPr>
                <a:t>Scrum Master</a:t>
              </a:r>
              <a:endParaRPr sz="3000" b="1">
                <a:solidFill>
                  <a:schemeClr val="dk2"/>
                </a:solidFill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dk2"/>
                  </a:solidFill>
                </a:rPr>
                <a:t>Matías González</a:t>
              </a:r>
              <a:endParaRPr sz="3000">
                <a:solidFill>
                  <a:schemeClr val="dk2"/>
                </a:solidFill>
              </a:endParaRPr>
            </a:p>
          </p:txBody>
        </p:sp>
        <p:pic>
          <p:nvPicPr>
            <p:cNvPr id="211" name="Google Shape;211;p11" title="ChatGPT Image 20 jul 2026, 07_34_53 p.m..png"/>
            <p:cNvPicPr preferRelativeResize="0"/>
            <p:nvPr/>
          </p:nvPicPr>
          <p:blipFill rotWithShape="1">
            <a:blip r:embed="rId4">
              <a:alphaModFix/>
            </a:blip>
            <a:srcRect l="5015" t="11236" b="16227"/>
            <a:stretch/>
          </p:blipFill>
          <p:spPr>
            <a:xfrm>
              <a:off x="5703838" y="3000213"/>
              <a:ext cx="2987400" cy="30828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212" name="Google Shape;212;p11"/>
          <p:cNvGrpSpPr/>
          <p:nvPr/>
        </p:nvGrpSpPr>
        <p:grpSpPr>
          <a:xfrm>
            <a:off x="13564894" y="2991013"/>
            <a:ext cx="3165313" cy="4295775"/>
            <a:chOff x="13734338" y="2991013"/>
            <a:chExt cx="3165313" cy="4295775"/>
          </a:xfrm>
        </p:grpSpPr>
        <p:sp>
          <p:nvSpPr>
            <p:cNvPr id="213" name="Google Shape;213;p11"/>
            <p:cNvSpPr txBox="1"/>
            <p:nvPr/>
          </p:nvSpPr>
          <p:spPr>
            <a:xfrm>
              <a:off x="13734338" y="6178588"/>
              <a:ext cx="31653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>
                  <a:solidFill>
                    <a:schemeClr val="dk2"/>
                  </a:solidFill>
                </a:rPr>
                <a:t>Developer</a:t>
              </a:r>
              <a:endParaRPr sz="3000" b="1">
                <a:solidFill>
                  <a:schemeClr val="dk2"/>
                </a:solidFill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dk2"/>
                  </a:solidFill>
                </a:rPr>
                <a:t>Jean Leyton</a:t>
              </a:r>
              <a:endParaRPr sz="3000">
                <a:solidFill>
                  <a:schemeClr val="dk2"/>
                </a:solidFill>
              </a:endParaRPr>
            </a:p>
          </p:txBody>
        </p:sp>
        <p:pic>
          <p:nvPicPr>
            <p:cNvPr id="214" name="Google Shape;214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734350" y="2991013"/>
              <a:ext cx="3165300" cy="3101100"/>
            </a:xfrm>
            <a:prstGeom prst="ellipse">
              <a:avLst/>
            </a:prstGeom>
            <a:noFill/>
            <a:ln>
              <a:noFill/>
            </a:ln>
          </p:spPr>
        </p:pic>
      </p:grpSp>
      <p:grpSp>
        <p:nvGrpSpPr>
          <p:cNvPr id="215" name="Google Shape;215;p11"/>
          <p:cNvGrpSpPr/>
          <p:nvPr/>
        </p:nvGrpSpPr>
        <p:grpSpPr>
          <a:xfrm>
            <a:off x="9332627" y="3077374"/>
            <a:ext cx="3470700" cy="4209413"/>
            <a:chOff x="9566388" y="3077374"/>
            <a:chExt cx="3470700" cy="4209413"/>
          </a:xfrm>
        </p:grpSpPr>
        <p:sp>
          <p:nvSpPr>
            <p:cNvPr id="216" name="Google Shape;216;p11"/>
            <p:cNvSpPr txBox="1"/>
            <p:nvPr/>
          </p:nvSpPr>
          <p:spPr>
            <a:xfrm>
              <a:off x="9566388" y="6178588"/>
              <a:ext cx="34707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>
                  <a:solidFill>
                    <a:schemeClr val="dk2"/>
                  </a:solidFill>
                </a:rPr>
                <a:t>Developer</a:t>
              </a:r>
              <a:endParaRPr sz="3000" b="1">
                <a:solidFill>
                  <a:schemeClr val="dk2"/>
                </a:solidFill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chemeClr val="dk2"/>
                  </a:solidFill>
                </a:rPr>
                <a:t>Smolenks Aravena</a:t>
              </a:r>
              <a:endParaRPr sz="3000">
                <a:solidFill>
                  <a:schemeClr val="dk2"/>
                </a:solidFill>
              </a:endParaRPr>
            </a:p>
          </p:txBody>
        </p:sp>
        <p:pic>
          <p:nvPicPr>
            <p:cNvPr id="217" name="Google Shape;217;p1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58550" y="3077374"/>
              <a:ext cx="3086400" cy="3101100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11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355286"/>
                </a:solidFill>
              </a:rPr>
              <a:t>14</a:t>
            </a:fld>
            <a:r>
              <a:rPr lang="en-US" sz="2400" b="1">
                <a:solidFill>
                  <a:srgbClr val="355286"/>
                </a:solidFill>
              </a:rPr>
              <a:t> / 16</a:t>
            </a:r>
            <a:endParaRPr sz="2400" b="1">
              <a:solidFill>
                <a:srgbClr val="35528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g3f8addd4091_0_22" title="WhatsApp Image 2026-08-30 at 14.25.19 (2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474100" cy="7299000"/>
          </a:xfrm>
          <a:prstGeom prst="diagStripe">
            <a:avLst>
              <a:gd name="adj" fmla="val 50000"/>
            </a:avLst>
          </a:prstGeom>
          <a:noFill/>
          <a:ln>
            <a:noFill/>
          </a:ln>
          <a:effectLst>
            <a:outerShdw blurRad="142875" dist="9525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24" name="Google Shape;224;g3f8addd4091_0_22"/>
          <p:cNvSpPr txBox="1"/>
          <p:nvPr/>
        </p:nvSpPr>
        <p:spPr>
          <a:xfrm>
            <a:off x="1028700" y="459684"/>
            <a:ext cx="16230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12. EVIDENCIAS</a:t>
            </a:r>
            <a:endParaRPr sz="8600"/>
          </a:p>
        </p:txBody>
      </p:sp>
      <p:sp>
        <p:nvSpPr>
          <p:cNvPr id="225" name="Google Shape;225;g3f8addd4091_0_22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355286"/>
                </a:solidFill>
              </a:rPr>
              <a:t>15</a:t>
            </a:fld>
            <a:r>
              <a:rPr lang="en-US" sz="2400" b="1">
                <a:solidFill>
                  <a:srgbClr val="355286"/>
                </a:solidFill>
              </a:rPr>
              <a:t> / 16</a:t>
            </a:r>
            <a:endParaRPr sz="2400" b="1">
              <a:solidFill>
                <a:srgbClr val="355286"/>
              </a:solidFill>
            </a:endParaRPr>
          </a:p>
        </p:txBody>
      </p:sp>
      <p:pic>
        <p:nvPicPr>
          <p:cNvPr id="226" name="Google Shape;226;g3f8addd4091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5987" y="2450048"/>
            <a:ext cx="1110801" cy="111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f8addd4091_0_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84245" y="2543301"/>
            <a:ext cx="1090175" cy="10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f8addd4091_0_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6295" y="4840300"/>
            <a:ext cx="1090175" cy="10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f8addd4091_0_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73930" y="7308339"/>
            <a:ext cx="1110801" cy="1110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f8addd4091_0_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75131" y="7393262"/>
            <a:ext cx="981340" cy="98136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f8addd4091_0_22"/>
          <p:cNvSpPr txBox="1"/>
          <p:nvPr/>
        </p:nvSpPr>
        <p:spPr>
          <a:xfrm>
            <a:off x="3230037" y="3615400"/>
            <a:ext cx="3962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1">
                <a:solidFill>
                  <a:srgbClr val="355286"/>
                </a:solidFill>
              </a:rPr>
              <a:t>Sprint Retrospective</a:t>
            </a:r>
            <a:endParaRPr sz="3000" b="1">
              <a:solidFill>
                <a:srgbClr val="355286"/>
              </a:solidFill>
            </a:endParaRPr>
          </a:p>
        </p:txBody>
      </p:sp>
      <p:sp>
        <p:nvSpPr>
          <p:cNvPr id="232" name="Google Shape;232;g3f8addd4091_0_22"/>
          <p:cNvSpPr txBox="1"/>
          <p:nvPr/>
        </p:nvSpPr>
        <p:spPr>
          <a:xfrm>
            <a:off x="8405780" y="3648938"/>
            <a:ext cx="3294000" cy="843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1" dirty="0" err="1">
                <a:solidFill>
                  <a:srgbClr val="355286"/>
                </a:solidFill>
              </a:rPr>
              <a:t>Tablero</a:t>
            </a:r>
            <a:r>
              <a:rPr lang="en-US" sz="3000" b="1" dirty="0">
                <a:solidFill>
                  <a:srgbClr val="355286"/>
                </a:solidFill>
              </a:rPr>
              <a:t> Kanban</a:t>
            </a:r>
            <a:endParaRPr sz="3000" b="1" dirty="0">
              <a:solidFill>
                <a:srgbClr val="355286"/>
              </a:solidFill>
            </a:endParaRPr>
          </a:p>
        </p:txBody>
      </p:sp>
      <p:sp>
        <p:nvSpPr>
          <p:cNvPr id="233" name="Google Shape;233;g3f8addd4091_0_22"/>
          <p:cNvSpPr txBox="1"/>
          <p:nvPr/>
        </p:nvSpPr>
        <p:spPr>
          <a:xfrm>
            <a:off x="3161330" y="6009450"/>
            <a:ext cx="4100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1">
                <a:solidFill>
                  <a:srgbClr val="355286"/>
                </a:solidFill>
              </a:rPr>
              <a:t>Impediment Backlog</a:t>
            </a:r>
            <a:endParaRPr sz="3000" b="1">
              <a:solidFill>
                <a:srgbClr val="355286"/>
              </a:solidFill>
            </a:endParaRPr>
          </a:p>
        </p:txBody>
      </p:sp>
      <p:sp>
        <p:nvSpPr>
          <p:cNvPr id="234" name="Google Shape;234;g3f8addd4091_0_22"/>
          <p:cNvSpPr txBox="1"/>
          <p:nvPr/>
        </p:nvSpPr>
        <p:spPr>
          <a:xfrm>
            <a:off x="7390430" y="8419113"/>
            <a:ext cx="507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1">
                <a:solidFill>
                  <a:srgbClr val="355286"/>
                </a:solidFill>
              </a:rPr>
              <a:t>Sistema de gestión interna</a:t>
            </a:r>
            <a:endParaRPr sz="3000" b="1">
              <a:solidFill>
                <a:srgbClr val="355286"/>
              </a:solidFill>
            </a:endParaRPr>
          </a:p>
        </p:txBody>
      </p:sp>
      <p:sp>
        <p:nvSpPr>
          <p:cNvPr id="235" name="Google Shape;235;g3f8addd4091_0_22"/>
          <p:cNvSpPr txBox="1"/>
          <p:nvPr/>
        </p:nvSpPr>
        <p:spPr>
          <a:xfrm>
            <a:off x="4058646" y="8440150"/>
            <a:ext cx="2305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1">
                <a:solidFill>
                  <a:srgbClr val="355286"/>
                </a:solidFill>
              </a:rPr>
              <a:t>Carta Gantt</a:t>
            </a:r>
            <a:endParaRPr sz="3000" b="1">
              <a:solidFill>
                <a:srgbClr val="355286"/>
              </a:solidFill>
            </a:endParaRPr>
          </a:p>
        </p:txBody>
      </p:sp>
      <p:sp>
        <p:nvSpPr>
          <p:cNvPr id="236" name="Google Shape;236;g3f8addd4091_0_22"/>
          <p:cNvSpPr txBox="1"/>
          <p:nvPr/>
        </p:nvSpPr>
        <p:spPr>
          <a:xfrm>
            <a:off x="7583330" y="6009438"/>
            <a:ext cx="46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1">
                <a:solidFill>
                  <a:srgbClr val="355286"/>
                </a:solidFill>
              </a:rPr>
              <a:t>Documento de RF y RNF</a:t>
            </a:r>
            <a:endParaRPr sz="3000" b="1">
              <a:solidFill>
                <a:srgbClr val="355286"/>
              </a:solidFill>
            </a:endParaRPr>
          </a:p>
        </p:txBody>
      </p:sp>
      <p:pic>
        <p:nvPicPr>
          <p:cNvPr id="237" name="Google Shape;237;g3f8addd4091_0_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493105" y="4932371"/>
            <a:ext cx="981325" cy="107707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f8addd4091_0_22"/>
          <p:cNvSpPr txBox="1"/>
          <p:nvPr/>
        </p:nvSpPr>
        <p:spPr>
          <a:xfrm>
            <a:off x="13511175" y="3651225"/>
            <a:ext cx="329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1">
                <a:solidFill>
                  <a:srgbClr val="355286"/>
                </a:solidFill>
              </a:rPr>
              <a:t>Burndown Chart</a:t>
            </a:r>
            <a:endParaRPr sz="3000" b="1">
              <a:solidFill>
                <a:srgbClr val="355286"/>
              </a:solidFill>
            </a:endParaRPr>
          </a:p>
        </p:txBody>
      </p:sp>
      <p:sp>
        <p:nvSpPr>
          <p:cNvPr id="239" name="Google Shape;239;g3f8addd4091_0_22"/>
          <p:cNvSpPr txBox="1"/>
          <p:nvPr/>
        </p:nvSpPr>
        <p:spPr>
          <a:xfrm>
            <a:off x="12688730" y="8440162"/>
            <a:ext cx="507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1">
                <a:solidFill>
                  <a:srgbClr val="355286"/>
                </a:solidFill>
              </a:rPr>
              <a:t>Daily Meetings</a:t>
            </a:r>
            <a:endParaRPr sz="3000" b="1">
              <a:solidFill>
                <a:srgbClr val="355286"/>
              </a:solidFill>
            </a:endParaRPr>
          </a:p>
        </p:txBody>
      </p:sp>
      <p:sp>
        <p:nvSpPr>
          <p:cNvPr id="240" name="Google Shape;240;g3f8addd4091_0_22"/>
          <p:cNvSpPr txBox="1"/>
          <p:nvPr/>
        </p:nvSpPr>
        <p:spPr>
          <a:xfrm>
            <a:off x="12688730" y="6011737"/>
            <a:ext cx="46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1">
                <a:solidFill>
                  <a:srgbClr val="355286"/>
                </a:solidFill>
              </a:rPr>
              <a:t>Sprint Review</a:t>
            </a:r>
            <a:endParaRPr sz="3000" b="1">
              <a:solidFill>
                <a:srgbClr val="355286"/>
              </a:solidFill>
            </a:endParaRPr>
          </a:p>
        </p:txBody>
      </p:sp>
      <p:pic>
        <p:nvPicPr>
          <p:cNvPr id="241" name="Google Shape;241;g3f8addd4091_0_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616675" y="2597712"/>
            <a:ext cx="981350" cy="9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f8addd4091_0_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493425" y="4856987"/>
            <a:ext cx="1227850" cy="122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f8addd4091_0_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4602763" y="7308309"/>
            <a:ext cx="1110825" cy="11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 txBox="1"/>
          <p:nvPr/>
        </p:nvSpPr>
        <p:spPr>
          <a:xfrm>
            <a:off x="1028700" y="459684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13. </a:t>
            </a:r>
            <a:r>
              <a:rPr lang="en-US" sz="6000" b="0" i="0" u="none" strike="noStrike" cap="none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CARTA GANTT</a:t>
            </a:r>
            <a:endParaRPr sz="6000"/>
          </a:p>
        </p:txBody>
      </p:sp>
      <p:sp>
        <p:nvSpPr>
          <p:cNvPr id="249" name="Google Shape;249;p12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355286"/>
                </a:solidFill>
              </a:rPr>
              <a:t>16</a:t>
            </a:fld>
            <a:r>
              <a:rPr lang="en-US" sz="2400" b="1">
                <a:solidFill>
                  <a:srgbClr val="355286"/>
                </a:solidFill>
              </a:rPr>
              <a:t> / 16</a:t>
            </a:r>
            <a:endParaRPr sz="2400" b="1">
              <a:solidFill>
                <a:srgbClr val="355286"/>
              </a:solidFill>
            </a:endParaRPr>
          </a:p>
        </p:txBody>
      </p:sp>
      <p:pic>
        <p:nvPicPr>
          <p:cNvPr id="250" name="Google Shape;25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988" y="1784775"/>
            <a:ext cx="13726024" cy="80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2" title="carta gant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163" y="1383075"/>
            <a:ext cx="17733673" cy="8762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g3f8addd4091_0_26" title="WhatsApp Image 2026-08-30 at 14.25.19 (2)(1).jpeg"/>
          <p:cNvPicPr preferRelativeResize="0"/>
          <p:nvPr/>
        </p:nvPicPr>
        <p:blipFill rotWithShape="1">
          <a:blip r:embed="rId3">
            <a:alphaModFix amt="20000"/>
          </a:blip>
          <a:srcRect t="44703" b="27172"/>
          <a:stretch/>
        </p:blipFill>
        <p:spPr>
          <a:xfrm>
            <a:off x="0" y="3428999"/>
            <a:ext cx="18288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f8addd4091_0_26"/>
          <p:cNvSpPr txBox="1"/>
          <p:nvPr/>
        </p:nvSpPr>
        <p:spPr>
          <a:xfrm>
            <a:off x="1028700" y="459684"/>
            <a:ext cx="16230600" cy="27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8">
                <a:solidFill>
                  <a:srgbClr val="355286"/>
                </a:solidFill>
                <a:latin typeface="Fredoka"/>
                <a:ea typeface="Fredoka"/>
                <a:cs typeface="Fredoka"/>
                <a:sym typeface="Fredoka"/>
              </a:rPr>
              <a:t>14. CONCLUSIONES Y REFLEXIONES</a:t>
            </a:r>
            <a:endParaRPr sz="8608">
              <a:solidFill>
                <a:srgbClr val="355286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258" name="Google Shape;258;g3f8addd4091_0_26"/>
          <p:cNvSpPr txBox="1">
            <a:spLocks noGrp="1"/>
          </p:cNvSpPr>
          <p:nvPr>
            <p:ph type="sldNum" idx="12"/>
          </p:nvPr>
        </p:nvSpPr>
        <p:spPr>
          <a:xfrm>
            <a:off x="15804175" y="9381925"/>
            <a:ext cx="2133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1">
                <a:solidFill>
                  <a:srgbClr val="355286"/>
                </a:solidFill>
              </a:rPr>
              <a:t>17</a:t>
            </a:fld>
            <a:r>
              <a:rPr lang="en-US" sz="2400" b="1">
                <a:solidFill>
                  <a:srgbClr val="355286"/>
                </a:solidFill>
              </a:rPr>
              <a:t> / 16</a:t>
            </a:r>
            <a:endParaRPr sz="2400" b="1">
              <a:solidFill>
                <a:srgbClr val="355286"/>
              </a:solidFill>
            </a:endParaRPr>
          </a:p>
        </p:txBody>
      </p:sp>
      <p:sp>
        <p:nvSpPr>
          <p:cNvPr id="259" name="Google Shape;259;g3f8addd4091_0_26"/>
          <p:cNvSpPr txBox="1"/>
          <p:nvPr/>
        </p:nvSpPr>
        <p:spPr>
          <a:xfrm>
            <a:off x="7065544" y="6463300"/>
            <a:ext cx="4572000" cy="27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55286"/>
                </a:solidFill>
                <a:highlight>
                  <a:schemeClr val="lt1"/>
                </a:highlight>
              </a:rPr>
              <a:t>Hemos aplicado conocimientos de ramos de gestion y toma de requerimientos…</a:t>
            </a:r>
            <a:endParaRPr sz="3000" b="1">
              <a:solidFill>
                <a:srgbClr val="355286"/>
              </a:solidFill>
              <a:highlight>
                <a:schemeClr val="lt1"/>
              </a:highlight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000">
                <a:solidFill>
                  <a:srgbClr val="355286"/>
                </a:solidFill>
                <a:highlight>
                  <a:schemeClr val="lt1"/>
                </a:highlight>
              </a:rPr>
              <a:t>-Matias Gonzalez</a:t>
            </a:r>
            <a:endParaRPr sz="3000">
              <a:solidFill>
                <a:srgbClr val="355286"/>
              </a:solidFill>
              <a:highlight>
                <a:schemeClr val="lt1"/>
              </a:highlight>
            </a:endParaRPr>
          </a:p>
        </p:txBody>
      </p:sp>
      <p:sp>
        <p:nvSpPr>
          <p:cNvPr id="260" name="Google Shape;260;g3f8addd4091_0_26"/>
          <p:cNvSpPr txBox="1"/>
          <p:nvPr/>
        </p:nvSpPr>
        <p:spPr>
          <a:xfrm>
            <a:off x="12549125" y="6463300"/>
            <a:ext cx="4497600" cy="21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55286"/>
                </a:solidFill>
                <a:highlight>
                  <a:schemeClr val="lt1"/>
                </a:highlight>
              </a:rPr>
              <a:t>Desarrollarse de manera tanto personal como profesionalmente …</a:t>
            </a:r>
            <a:endParaRPr sz="3000" b="1">
              <a:solidFill>
                <a:srgbClr val="355286"/>
              </a:solidFill>
              <a:highlight>
                <a:schemeClr val="lt1"/>
              </a:highlight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000">
                <a:solidFill>
                  <a:srgbClr val="355286"/>
                </a:solidFill>
                <a:highlight>
                  <a:schemeClr val="lt1"/>
                </a:highlight>
              </a:rPr>
              <a:t>-Jean Leyton</a:t>
            </a:r>
            <a:endParaRPr sz="3000">
              <a:solidFill>
                <a:srgbClr val="355286"/>
              </a:solidFill>
              <a:highlight>
                <a:schemeClr val="lt1"/>
              </a:highlight>
            </a:endParaRPr>
          </a:p>
        </p:txBody>
      </p:sp>
      <p:sp>
        <p:nvSpPr>
          <p:cNvPr id="261" name="Google Shape;261;g3f8addd4091_0_26"/>
          <p:cNvSpPr txBox="1"/>
          <p:nvPr/>
        </p:nvSpPr>
        <p:spPr>
          <a:xfrm>
            <a:off x="1581963" y="6463300"/>
            <a:ext cx="4572000" cy="21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55286"/>
                </a:solidFill>
                <a:highlight>
                  <a:schemeClr val="lt1"/>
                </a:highlight>
              </a:rPr>
              <a:t>Llegar a saber que es lo que necesita o requiere el cliente puede ser…</a:t>
            </a:r>
            <a:endParaRPr sz="3000" b="1">
              <a:solidFill>
                <a:srgbClr val="355286"/>
              </a:solidFill>
              <a:highlight>
                <a:schemeClr val="lt1"/>
              </a:highlight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000">
                <a:solidFill>
                  <a:srgbClr val="355286"/>
                </a:solidFill>
                <a:highlight>
                  <a:schemeClr val="lt1"/>
                </a:highlight>
              </a:rPr>
              <a:t>-Smolenks Aravena</a:t>
            </a:r>
            <a:endParaRPr sz="3000">
              <a:solidFill>
                <a:srgbClr val="355286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1223</Words>
  <Application>Microsoft Office PowerPoint</Application>
  <PresentationFormat>Custom</PresentationFormat>
  <Paragraphs>140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Fredoka</vt:lpstr>
      <vt:lpstr>Lato</vt:lpstr>
      <vt:lpstr>Raleway</vt:lpstr>
      <vt:lpstr>Arial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avena</cp:lastModifiedBy>
  <cp:revision>1</cp:revision>
  <dcterms:created xsi:type="dcterms:W3CDTF">2006-08-16T00:00:00Z</dcterms:created>
  <dcterms:modified xsi:type="dcterms:W3CDTF">2026-09-06T01:15:05Z</dcterms:modified>
</cp:coreProperties>
</file>